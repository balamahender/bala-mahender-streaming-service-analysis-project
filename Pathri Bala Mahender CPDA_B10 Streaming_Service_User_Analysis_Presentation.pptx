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sldIdLst>
    <p:sldId id="256" r:id="rId2"/>
    <p:sldId id="257" r:id="rId3"/>
    <p:sldId id="268" r:id="rId4"/>
    <p:sldId id="258" r:id="rId5"/>
    <p:sldId id="263" r:id="rId6"/>
    <p:sldId id="269" r:id="rId7"/>
    <p:sldId id="259" r:id="rId8"/>
    <p:sldId id="260" r:id="rId9"/>
    <p:sldId id="270" r:id="rId10"/>
    <p:sldId id="261" r:id="rId11"/>
    <p:sldId id="271" r:id="rId12"/>
    <p:sldId id="262" r:id="rId13"/>
    <p:sldId id="264" r:id="rId14"/>
    <p:sldId id="265" r:id="rId15"/>
    <p:sldId id="267" r:id="rId16"/>
    <p:sldId id="266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DMIN\Downloads\Bala%20Mahender%20streaming_service_data%20(1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ala%20Mahender%20streaming_service_data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ADMIN\Downloads\Bala%20Mahender%20streaming_service_data%20(1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My%20Computer\Desktop\Bala%20Mahender%20streaming_service_data%20(1)%20(1).xlsx" TargetMode="External"/><Relationship Id="rId1" Type="http://schemas.openxmlformats.org/officeDocument/2006/relationships/themeOverride" Target="../theme/themeOverrid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C:\Users\My%20Computer\Desktop\Bala%20Mahender%20streaming_service_data%20(1)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(1).xlsx]Revenue by Subscription Plan!PivotTable11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Monthly Revenue by Plan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'Revenue by Subscription Plan'!$B$19:$B$20</c:f>
              <c:strCache>
                <c:ptCount val="1"/>
                <c:pt idx="0">
                  <c:v>7.99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Subscription Plan'!$A$21:$A$32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Subscription Plan'!$B$21:$B$32</c:f>
              <c:numCache>
                <c:formatCode>0</c:formatCode>
                <c:ptCount val="12"/>
                <c:pt idx="0">
                  <c:v>191.76000000000005</c:v>
                </c:pt>
                <c:pt idx="1">
                  <c:v>199.75000000000006</c:v>
                </c:pt>
                <c:pt idx="2">
                  <c:v>207.74000000000007</c:v>
                </c:pt>
                <c:pt idx="3">
                  <c:v>271.66000000000014</c:v>
                </c:pt>
                <c:pt idx="4">
                  <c:v>247.69000000000011</c:v>
                </c:pt>
                <c:pt idx="5">
                  <c:v>231.71000000000009</c:v>
                </c:pt>
                <c:pt idx="6">
                  <c:v>167.79000000000002</c:v>
                </c:pt>
                <c:pt idx="7">
                  <c:v>151.81</c:v>
                </c:pt>
                <c:pt idx="8">
                  <c:v>255.68000000000012</c:v>
                </c:pt>
                <c:pt idx="9">
                  <c:v>279.65000000000015</c:v>
                </c:pt>
                <c:pt idx="10">
                  <c:v>175.78000000000003</c:v>
                </c:pt>
                <c:pt idx="11">
                  <c:v>199.75000000000006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98-44E1-B2FD-CFA580E55D2C}"/>
            </c:ext>
          </c:extLst>
        </c:ser>
        <c:ser>
          <c:idx val="1"/>
          <c:order val="1"/>
          <c:tx>
            <c:strRef>
              <c:f>'Revenue by Subscription Plan'!$C$19:$C$20</c:f>
              <c:strCache>
                <c:ptCount val="1"/>
                <c:pt idx="0">
                  <c:v>11.99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Subscription Plan'!$A$21:$A$32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Subscription Plan'!$C$21:$C$32</c:f>
              <c:numCache>
                <c:formatCode>0</c:formatCode>
                <c:ptCount val="12"/>
                <c:pt idx="0">
                  <c:v>311.74000000000012</c:v>
                </c:pt>
                <c:pt idx="1">
                  <c:v>431.64000000000021</c:v>
                </c:pt>
                <c:pt idx="2">
                  <c:v>299.75000000000011</c:v>
                </c:pt>
                <c:pt idx="3">
                  <c:v>371.69000000000017</c:v>
                </c:pt>
                <c:pt idx="4">
                  <c:v>371.69000000000017</c:v>
                </c:pt>
                <c:pt idx="5">
                  <c:v>347.71000000000015</c:v>
                </c:pt>
                <c:pt idx="6">
                  <c:v>407.6600000000002</c:v>
                </c:pt>
                <c:pt idx="7">
                  <c:v>299.75000000000011</c:v>
                </c:pt>
                <c:pt idx="8">
                  <c:v>311.74000000000012</c:v>
                </c:pt>
                <c:pt idx="9">
                  <c:v>335.72000000000014</c:v>
                </c:pt>
                <c:pt idx="10">
                  <c:v>215.82000000000005</c:v>
                </c:pt>
                <c:pt idx="11">
                  <c:v>431.64000000000021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98-44E1-B2FD-CFA580E55D2C}"/>
            </c:ext>
          </c:extLst>
        </c:ser>
        <c:ser>
          <c:idx val="2"/>
          <c:order val="2"/>
          <c:tx>
            <c:strRef>
              <c:f>'Revenue by Subscription Plan'!$D$19:$D$20</c:f>
              <c:strCache>
                <c:ptCount val="1"/>
                <c:pt idx="0">
                  <c:v>15.99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Subscription Plan'!$A$21:$A$32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'Revenue by Subscription Plan'!$D$21:$D$32</c:f>
              <c:numCache>
                <c:formatCode>0</c:formatCode>
                <c:ptCount val="12"/>
                <c:pt idx="0">
                  <c:v>559.6500000000002</c:v>
                </c:pt>
                <c:pt idx="1">
                  <c:v>431.73000000000013</c:v>
                </c:pt>
                <c:pt idx="2">
                  <c:v>351.78000000000009</c:v>
                </c:pt>
                <c:pt idx="3">
                  <c:v>335.79000000000008</c:v>
                </c:pt>
                <c:pt idx="4">
                  <c:v>431.73000000000013</c:v>
                </c:pt>
                <c:pt idx="5">
                  <c:v>543.6600000000002</c:v>
                </c:pt>
                <c:pt idx="6">
                  <c:v>335.79000000000008</c:v>
                </c:pt>
                <c:pt idx="7">
                  <c:v>335.79000000000008</c:v>
                </c:pt>
                <c:pt idx="8">
                  <c:v>559.6500000000002</c:v>
                </c:pt>
                <c:pt idx="9">
                  <c:v>367.7700000000001</c:v>
                </c:pt>
                <c:pt idx="10">
                  <c:v>479.70000000000016</c:v>
                </c:pt>
                <c:pt idx="11">
                  <c:v>575.64000000000021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98-44E1-B2FD-CFA580E55D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607775"/>
        <c:axId val="1462839327"/>
      </c:barChart>
      <c:catAx>
        <c:axId val="1226077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/>
                  <a:t>Month 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2839327"/>
        <c:crosses val="autoZero"/>
        <c:auto val="1"/>
        <c:lblAlgn val="ctr"/>
        <c:lblOffset val="100"/>
        <c:noMultiLvlLbl val="0"/>
      </c:catAx>
      <c:valAx>
        <c:axId val="1462839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/>
                  <a:t>Subscription Plan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0777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[Bala Mahender streaming_service_data (1).xlsx]Revenue by Subscription Plan!PivotTable1</c:name>
    <c:fmtId val="26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714840997681352"/>
          <c:y val="0.23630756382724888"/>
          <c:w val="0.57107844484768477"/>
          <c:h val="0.491555714626580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'Revenue by Subscription Plan'!$B$3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Subscription Plan'!$A$4:$A$7</c:f>
              <c:strCache>
                <c:ptCount val="3"/>
                <c:pt idx="0">
                  <c:v>7.99</c:v>
                </c:pt>
                <c:pt idx="1">
                  <c:v>11.99</c:v>
                </c:pt>
                <c:pt idx="2">
                  <c:v>15.99</c:v>
                </c:pt>
              </c:strCache>
            </c:strRef>
          </c:cat>
          <c:val>
            <c:numRef>
              <c:f>'Revenue by Subscription Plan'!$B$4:$B$7</c:f>
              <c:numCache>
                <c:formatCode>General</c:formatCode>
                <c:ptCount val="3"/>
                <c:pt idx="0">
                  <c:v>323</c:v>
                </c:pt>
                <c:pt idx="1">
                  <c:v>345</c:v>
                </c:pt>
                <c:pt idx="2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4-4F67-B990-6A2D65C14A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94653712"/>
        <c:axId val="994653232"/>
      </c:barChart>
      <c:catAx>
        <c:axId val="9946537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Monthly_Price</a:t>
                </a:r>
              </a:p>
              <a:p>
                <a:pPr>
                  <a:defRPr/>
                </a:pPr>
                <a:r>
                  <a:rPr lang="en-IN"/>
                  <a:t>Subscription Plan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653232"/>
        <c:crosses val="autoZero"/>
        <c:auto val="1"/>
        <c:lblAlgn val="ctr"/>
        <c:lblOffset val="100"/>
        <c:noMultiLvlLbl val="0"/>
      </c:catAx>
      <c:valAx>
        <c:axId val="9946532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 of Users</a:t>
                </a:r>
              </a:p>
            </c:rich>
          </c:tx>
          <c:layout>
            <c:manualLayout>
              <c:xMode val="edge"/>
              <c:yMode val="edge"/>
              <c:x val="1.6666666666666666E-2"/>
              <c:y val="0.314049493813273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65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(1).xlsx]Average watch hours per user. !PivotTable3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35577985035228"/>
          <c:y val="6.0622090526526069E-2"/>
          <c:w val="0.71846479301787114"/>
          <c:h val="0.73464297471467821"/>
        </c:manualLayout>
      </c:layout>
      <c:lineChart>
        <c:grouping val="standard"/>
        <c:varyColors val="0"/>
        <c:ser>
          <c:idx val="0"/>
          <c:order val="0"/>
          <c:tx>
            <c:strRef>
              <c:f>'Average watch hours per user. '!$C$2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'Average watch hours per user. '!$B$3:$B$13</c:f>
              <c:strCache>
                <c:ptCount val="10"/>
                <c:pt idx="0">
                  <c:v>Michele</c:v>
                </c:pt>
                <c:pt idx="1">
                  <c:v>Marisa</c:v>
                </c:pt>
                <c:pt idx="2">
                  <c:v>Leslie</c:v>
                </c:pt>
                <c:pt idx="3">
                  <c:v>Hunter</c:v>
                </c:pt>
                <c:pt idx="4">
                  <c:v>Stacy</c:v>
                </c:pt>
                <c:pt idx="5">
                  <c:v>Dennis</c:v>
                </c:pt>
                <c:pt idx="6">
                  <c:v>Jesus</c:v>
                </c:pt>
                <c:pt idx="7">
                  <c:v>Laura</c:v>
                </c:pt>
                <c:pt idx="8">
                  <c:v>Jack</c:v>
                </c:pt>
                <c:pt idx="9">
                  <c:v>Joann</c:v>
                </c:pt>
              </c:strCache>
            </c:strRef>
          </c:cat>
          <c:val>
            <c:numRef>
              <c:f>'Average watch hours per user. '!$C$3:$C$13</c:f>
              <c:numCache>
                <c:formatCode>General</c:formatCode>
                <c:ptCount val="10"/>
                <c:pt idx="0">
                  <c:v>500</c:v>
                </c:pt>
                <c:pt idx="1">
                  <c:v>495</c:v>
                </c:pt>
                <c:pt idx="2">
                  <c:v>491</c:v>
                </c:pt>
                <c:pt idx="3">
                  <c:v>491</c:v>
                </c:pt>
                <c:pt idx="4">
                  <c:v>491</c:v>
                </c:pt>
                <c:pt idx="5">
                  <c:v>491</c:v>
                </c:pt>
                <c:pt idx="6">
                  <c:v>487</c:v>
                </c:pt>
                <c:pt idx="7">
                  <c:v>482</c:v>
                </c:pt>
                <c:pt idx="8">
                  <c:v>480</c:v>
                </c:pt>
                <c:pt idx="9">
                  <c:v>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09-4209-A973-9953A9637BD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67510768"/>
        <c:axId val="1167514128"/>
      </c:lineChart>
      <c:catAx>
        <c:axId val="1167510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 dirty="0"/>
                  <a:t>User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514128"/>
        <c:crosses val="autoZero"/>
        <c:auto val="1"/>
        <c:lblAlgn val="ctr"/>
        <c:lblOffset val="100"/>
        <c:noMultiLvlLbl val="0"/>
      </c:catAx>
      <c:valAx>
        <c:axId val="116751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/>
                  <a:t>Average  watch</a:t>
                </a:r>
                <a:r>
                  <a:rPr lang="en-IN" sz="1200" baseline="0" dirty="0"/>
                  <a:t> hour</a:t>
                </a:r>
                <a:endParaRPr lang="en-IN" sz="12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510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(1).xlsx]Total movies vs. series watch!PivotTable4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157518353684051"/>
          <c:y val="0.23228996237277091"/>
          <c:w val="0.65742918498823999"/>
          <c:h val="0.545764878150072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'Total movies vs. series watch'!$B$3</c:f>
              <c:strCache>
                <c:ptCount val="1"/>
                <c:pt idx="0">
                  <c:v>Sum of Total_Movies_Watched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movies vs. series watch'!$A$4:$A$9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'Total movies vs. series watch'!$B$4:$B$9</c:f>
              <c:numCache>
                <c:formatCode>General</c:formatCode>
                <c:ptCount val="5"/>
                <c:pt idx="0">
                  <c:v>94100</c:v>
                </c:pt>
                <c:pt idx="1">
                  <c:v>100542</c:v>
                </c:pt>
                <c:pt idx="2">
                  <c:v>110132</c:v>
                </c:pt>
                <c:pt idx="3">
                  <c:v>104205</c:v>
                </c:pt>
                <c:pt idx="4">
                  <c:v>106918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4C8D-AE03-797BCC319657}"/>
            </c:ext>
          </c:extLst>
        </c:ser>
        <c:ser>
          <c:idx val="1"/>
          <c:order val="1"/>
          <c:tx>
            <c:strRef>
              <c:f>'Total movies vs. series watch'!$C$3</c:f>
              <c:strCache>
                <c:ptCount val="1"/>
                <c:pt idx="0">
                  <c:v>Sum of Total_Series_Watched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movies vs. series watch'!$A$4:$A$9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'Total movies vs. series watch'!$C$4:$C$9</c:f>
              <c:numCache>
                <c:formatCode>General</c:formatCode>
                <c:ptCount val="5"/>
                <c:pt idx="0">
                  <c:v>19790</c:v>
                </c:pt>
                <c:pt idx="1">
                  <c:v>18631</c:v>
                </c:pt>
                <c:pt idx="2">
                  <c:v>20452</c:v>
                </c:pt>
                <c:pt idx="3">
                  <c:v>22023</c:v>
                </c:pt>
                <c:pt idx="4">
                  <c:v>18850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82-4C8D-AE03-797BCC31965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97150192"/>
        <c:axId val="1097152112"/>
      </c:barChart>
      <c:catAx>
        <c:axId val="1097150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Age</a:t>
                </a:r>
                <a:r>
                  <a:rPr lang="en-IN" baseline="0"/>
                  <a:t> Group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152112"/>
        <c:crosses val="autoZero"/>
        <c:auto val="1"/>
        <c:lblAlgn val="ctr"/>
        <c:lblOffset val="100"/>
        <c:noMultiLvlLbl val="0"/>
      </c:catAx>
      <c:valAx>
        <c:axId val="1097152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Sum of Watced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15019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3441558441558439"/>
          <c:y val="0.40586975149957155"/>
          <c:w val="0.14935064935064934"/>
          <c:h val="0.41572407883461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(1).xlsx]Recommended Content Impact!PivotTable1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Recommended Content Impact</a:t>
            </a:r>
          </a:p>
        </c:rich>
      </c:tx>
      <c:layout>
        <c:manualLayout>
          <c:xMode val="edge"/>
          <c:yMode val="edge"/>
          <c:x val="0.30162887762334173"/>
          <c:y val="3.9794205811366792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211067404858352"/>
          <c:y val="0.13883183523989223"/>
          <c:w val="0.78506381666981651"/>
          <c:h val="0.636463285447173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'Recommended Content Impact'!$B$3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'Recommended Content Impact'!$A$4:$A$8</c:f>
              <c:strCache>
                <c:ptCount val="4"/>
                <c:pt idx="0">
                  <c:v>High(21+)</c:v>
                </c:pt>
                <c:pt idx="1">
                  <c:v>Low (1-10)</c:v>
                </c:pt>
                <c:pt idx="2">
                  <c:v>Medium (11-20)</c:v>
                </c:pt>
                <c:pt idx="3">
                  <c:v>NO Recommendation</c:v>
                </c:pt>
              </c:strCache>
            </c:strRef>
          </c:cat>
          <c:val>
            <c:numRef>
              <c:f>'Recommended Content Impact'!$B$4:$B$8</c:f>
              <c:numCache>
                <c:formatCode>0</c:formatCode>
                <c:ptCount val="4"/>
                <c:pt idx="0">
                  <c:v>253.08239700374531</c:v>
                </c:pt>
                <c:pt idx="1">
                  <c:v>272.4111111111111</c:v>
                </c:pt>
                <c:pt idx="2">
                  <c:v>247.18367346938774</c:v>
                </c:pt>
                <c:pt idx="3">
                  <c:v>277.81818181818181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A9-46E1-85CE-626EB05D435E}"/>
            </c:ext>
          </c:extLst>
        </c:ser>
        <c:ser>
          <c:idx val="1"/>
          <c:order val="1"/>
          <c:tx>
            <c:strRef>
              <c:f>'Recommended Content Impact'!$C$3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'Recommended Content Impact'!$A$4:$A$8</c:f>
              <c:strCache>
                <c:ptCount val="4"/>
                <c:pt idx="0">
                  <c:v>High(21+)</c:v>
                </c:pt>
                <c:pt idx="1">
                  <c:v>Low (1-10)</c:v>
                </c:pt>
                <c:pt idx="2">
                  <c:v>Medium (11-20)</c:v>
                </c:pt>
                <c:pt idx="3">
                  <c:v>NO Recommendation</c:v>
                </c:pt>
              </c:strCache>
            </c:strRef>
          </c:cat>
          <c:val>
            <c:numRef>
              <c:f>'Recommended Content Impact'!$C$4:$C$8</c:f>
              <c:numCache>
                <c:formatCode>General</c:formatCode>
                <c:ptCount val="4"/>
                <c:pt idx="0">
                  <c:v>801</c:v>
                </c:pt>
                <c:pt idx="1">
                  <c:v>90</c:v>
                </c:pt>
                <c:pt idx="2">
                  <c:v>98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A9-46E1-85CE-626EB05D43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59646543"/>
        <c:axId val="1557564255"/>
      </c:barChart>
      <c:catAx>
        <c:axId val="15596465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Recommended</a:t>
                </a:r>
                <a:r>
                  <a:rPr lang="en-IN" sz="1200" b="1" dirty="0"/>
                  <a:t>  Group</a:t>
                </a:r>
              </a:p>
            </c:rich>
          </c:tx>
          <c:layout>
            <c:manualLayout>
              <c:xMode val="edge"/>
              <c:yMode val="edge"/>
              <c:x val="0.37074189700481242"/>
              <c:y val="0.8993425923540072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564255"/>
        <c:crosses val="autoZero"/>
        <c:auto val="1"/>
        <c:lblAlgn val="ctr"/>
        <c:lblOffset val="100"/>
        <c:noMultiLvlLbl val="0"/>
      </c:catAx>
      <c:valAx>
        <c:axId val="1557564255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 dirty="0"/>
                  <a:t>Count</a:t>
                </a:r>
                <a:r>
                  <a:rPr lang="en-IN" sz="1200" b="1" baseline="0" dirty="0"/>
                  <a:t> of User ID</a:t>
                </a:r>
                <a:endParaRPr lang="en-IN" sz="1200" b="1" dirty="0"/>
              </a:p>
            </c:rich>
          </c:tx>
          <c:layout>
            <c:manualLayout>
              <c:xMode val="edge"/>
              <c:yMode val="edge"/>
              <c:x val="3.0597876754289818E-2"/>
              <c:y val="0.1686272084653903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9646543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639897378980052"/>
          <c:y val="1.6886045767243115E-2"/>
          <c:w val="0.1802357416472313"/>
          <c:h val="0.16455438568336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(1).xlsx]Demographic-Preferred genres by!PivotTable2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313065522111309"/>
          <c:y val="0.1678786991774727"/>
          <c:w val="0.62740578633433364"/>
          <c:h val="0.717136082896701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'Demographic-Preferred genres by'!$C$2:$C$3</c:f>
              <c:strCache>
                <c:ptCount val="1"/>
                <c:pt idx="0">
                  <c:v>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by'!$C$4:$C$8</c:f>
              <c:numCache>
                <c:formatCode>General</c:formatCode>
                <c:ptCount val="5"/>
                <c:pt idx="0">
                  <c:v>26</c:v>
                </c:pt>
                <c:pt idx="1">
                  <c:v>33</c:v>
                </c:pt>
                <c:pt idx="2">
                  <c:v>32</c:v>
                </c:pt>
                <c:pt idx="3">
                  <c:v>34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8-4FE3-8A29-22AB61173E97}"/>
            </c:ext>
          </c:extLst>
        </c:ser>
        <c:ser>
          <c:idx val="1"/>
          <c:order val="1"/>
          <c:tx>
            <c:strRef>
              <c:f>'Demographic-Preferred genres by'!$D$2:$D$3</c:f>
              <c:strCache>
                <c:ptCount val="1"/>
                <c:pt idx="0">
                  <c:v>Comedy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by'!$D$4:$D$8</c:f>
              <c:numCache>
                <c:formatCode>General</c:formatCode>
                <c:ptCount val="5"/>
                <c:pt idx="0">
                  <c:v>23</c:v>
                </c:pt>
                <c:pt idx="1">
                  <c:v>29</c:v>
                </c:pt>
                <c:pt idx="2">
                  <c:v>29</c:v>
                </c:pt>
                <c:pt idx="3">
                  <c:v>26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C8-4FE3-8A29-22AB61173E97}"/>
            </c:ext>
          </c:extLst>
        </c:ser>
        <c:ser>
          <c:idx val="2"/>
          <c:order val="2"/>
          <c:tx>
            <c:strRef>
              <c:f>'Demographic-Preferred genres by'!$E$2:$E$3</c:f>
              <c:strCache>
                <c:ptCount val="1"/>
                <c:pt idx="0">
                  <c:v>Documentary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by'!$E$4:$E$8</c:f>
              <c:numCache>
                <c:formatCode>General</c:formatCode>
                <c:ptCount val="5"/>
                <c:pt idx="0">
                  <c:v>36</c:v>
                </c:pt>
                <c:pt idx="1">
                  <c:v>21</c:v>
                </c:pt>
                <c:pt idx="2">
                  <c:v>22</c:v>
                </c:pt>
                <c:pt idx="3">
                  <c:v>22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C8-4FE3-8A29-22AB61173E97}"/>
            </c:ext>
          </c:extLst>
        </c:ser>
        <c:ser>
          <c:idx val="3"/>
          <c:order val="3"/>
          <c:tx>
            <c:strRef>
              <c:f>'Demographic-Preferred genres by'!$F$2:$F$3</c:f>
              <c:strCache>
                <c:ptCount val="1"/>
                <c:pt idx="0">
                  <c:v>Drama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by'!$F$4:$F$8</c:f>
              <c:numCache>
                <c:formatCode>General</c:formatCode>
                <c:ptCount val="5"/>
                <c:pt idx="0">
                  <c:v>25</c:v>
                </c:pt>
                <c:pt idx="1">
                  <c:v>31</c:v>
                </c:pt>
                <c:pt idx="2">
                  <c:v>27</c:v>
                </c:pt>
                <c:pt idx="3">
                  <c:v>31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C8-4FE3-8A29-22AB61173E97}"/>
            </c:ext>
          </c:extLst>
        </c:ser>
        <c:ser>
          <c:idx val="4"/>
          <c:order val="4"/>
          <c:tx>
            <c:strRef>
              <c:f>'Demographic-Preferred genres by'!$G$2:$G$3</c:f>
              <c:strCache>
                <c:ptCount val="1"/>
                <c:pt idx="0">
                  <c:v>Horror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by'!$G$4:$G$8</c:f>
              <c:numCache>
                <c:formatCode>General</c:formatCode>
                <c:ptCount val="5"/>
                <c:pt idx="0">
                  <c:v>23</c:v>
                </c:pt>
                <c:pt idx="1">
                  <c:v>36</c:v>
                </c:pt>
                <c:pt idx="2">
                  <c:v>34</c:v>
                </c:pt>
                <c:pt idx="3">
                  <c:v>32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C8-4FE3-8A29-22AB61173E97}"/>
            </c:ext>
          </c:extLst>
        </c:ser>
        <c:ser>
          <c:idx val="5"/>
          <c:order val="5"/>
          <c:tx>
            <c:strRef>
              <c:f>'Demographic-Preferred genres by'!$H$2:$H$3</c:f>
              <c:strCache>
                <c:ptCount val="1"/>
                <c:pt idx="0">
                  <c:v>Romance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by'!$H$4:$H$8</c:f>
              <c:numCache>
                <c:formatCode>General</c:formatCode>
                <c:ptCount val="5"/>
                <c:pt idx="0">
                  <c:v>24</c:v>
                </c:pt>
                <c:pt idx="1">
                  <c:v>27</c:v>
                </c:pt>
                <c:pt idx="2">
                  <c:v>32</c:v>
                </c:pt>
                <c:pt idx="3">
                  <c:v>36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C8-4FE3-8A29-22AB61173E97}"/>
            </c:ext>
          </c:extLst>
        </c:ser>
        <c:ser>
          <c:idx val="6"/>
          <c:order val="6"/>
          <c:tx>
            <c:strRef>
              <c:f>'Demographic-Preferred genres by'!$I$2:$I$3</c:f>
              <c:strCache>
                <c:ptCount val="1"/>
                <c:pt idx="0">
                  <c:v>Sci-Fi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'Demographic-Preferred genres by'!$B$4:$B$8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'Demographic-Preferred genres by'!$I$4:$I$8</c:f>
              <c:numCache>
                <c:formatCode>General</c:formatCode>
                <c:ptCount val="5"/>
                <c:pt idx="0">
                  <c:v>23</c:v>
                </c:pt>
                <c:pt idx="1">
                  <c:v>23</c:v>
                </c:pt>
                <c:pt idx="2">
                  <c:v>31</c:v>
                </c:pt>
                <c:pt idx="3">
                  <c:v>27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C8-4FE3-8A29-22AB61173E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544580543"/>
        <c:axId val="1474244863"/>
      </c:barChart>
      <c:catAx>
        <c:axId val="1544580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900" b="1" i="0" u="none" strike="noStrike" cap="all" baseline="0">
                    <a:effectLst/>
                  </a:rPr>
                  <a:t>Age_Group</a:t>
                </a:r>
                <a:r>
                  <a:rPr lang="en-IN" sz="900" b="1" i="0" u="none" strike="noStrike" cap="all" baseline="0"/>
                  <a:t> 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244863"/>
        <c:crosses val="autoZero"/>
        <c:auto val="1"/>
        <c:lblAlgn val="ctr"/>
        <c:lblOffset val="100"/>
        <c:noMultiLvlLbl val="0"/>
      </c:catAx>
      <c:valAx>
        <c:axId val="1474244863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Favorite_Genre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crossAx val="1544580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(1).xlsx]Device Usage!PivotTable3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5844664310073E-2"/>
              <c:y val="0.1605606562983790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5737557745899343E-2"/>
              <c:y val="6.246245064671906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944444444444445"/>
              <c:y val="-2.3148148148148147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09378"/>
                    <a:gd name="adj2" fmla="val -5891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508375882943488E-2"/>
              <c:y val="0.1191440033777393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6009501187648335E-2"/>
              <c:y val="0.1009008818139307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6009501187648335E-2"/>
              <c:y val="0.1009008818139307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508375882943488E-2"/>
              <c:y val="0.1191440033777393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944444444444445"/>
              <c:y val="-2.3148148148148147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09378"/>
                    <a:gd name="adj2" fmla="val -5891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5844664310073E-2"/>
              <c:y val="0.1605606562983790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5737557745899343E-2"/>
              <c:y val="6.246245064671906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7.6009501187648335E-2"/>
              <c:y val="0.10090088181393075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508375882943488E-2"/>
              <c:y val="0.1191440033777393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944444444444445"/>
              <c:y val="-2.3148148148148147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09378"/>
                    <a:gd name="adj2" fmla="val -58911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5844664310073E-2"/>
              <c:y val="0.1605606562983790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9.5737557745899343E-2"/>
              <c:y val="6.246245064671906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4021982406593475"/>
          <c:y val="0.11535274827216226"/>
          <c:w val="0.46907188857924825"/>
          <c:h val="0.71163685670485788"/>
        </c:manualLayout>
      </c:layout>
      <c:pieChart>
        <c:varyColors val="1"/>
        <c:ser>
          <c:idx val="0"/>
          <c:order val="0"/>
          <c:tx>
            <c:strRef>
              <c:f>'Device Usage'!$B$3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BA-4A26-AC85-61C665266B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BA-4A26-AC85-61C665266BC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9BA-4A26-AC85-61C665266BC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9BA-4A26-AC85-61C665266BC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9BA-4A26-AC85-61C665266BCA}"/>
              </c:ext>
            </c:extLst>
          </c:dPt>
          <c:dLbls>
            <c:dLbl>
              <c:idx val="0"/>
              <c:layout>
                <c:manualLayout>
                  <c:x val="7.6009501187648335E-2"/>
                  <c:y val="0.1009008818139307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BA-4A26-AC85-61C665266BCA}"/>
                </c:ext>
              </c:extLst>
            </c:dLbl>
            <c:dLbl>
              <c:idx val="1"/>
              <c:layout>
                <c:manualLayout>
                  <c:x val="5.8151965957058321E-2"/>
                  <c:y val="-2.07546415015141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BA-4A26-AC85-61C665266BCA}"/>
                </c:ext>
              </c:extLst>
            </c:dLbl>
            <c:dLbl>
              <c:idx val="2"/>
              <c:layout>
                <c:manualLayout>
                  <c:x val="0.13261977699044475"/>
                  <c:y val="-4.7404974087136096E-3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09378"/>
                        <a:gd name="adj2" fmla="val -58911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29BA-4A26-AC85-61C665266BCA}"/>
                </c:ext>
              </c:extLst>
            </c:dLbl>
            <c:dLbl>
              <c:idx val="3"/>
              <c:layout>
                <c:manualLayout>
                  <c:x val="2.515844664310073E-2"/>
                  <c:y val="0.1605606562983790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9BA-4A26-AC85-61C665266BCA}"/>
                </c:ext>
              </c:extLst>
            </c:dLbl>
            <c:dLbl>
              <c:idx val="4"/>
              <c:layout>
                <c:manualLayout>
                  <c:x val="-9.5737557745899343E-2"/>
                  <c:y val="6.246245064671906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9BA-4A26-AC85-61C665266BCA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'Device Usage'!$A$4:$A$9</c:f>
              <c:strCache>
                <c:ptCount val="5"/>
                <c:pt idx="0">
                  <c:v>Tablet</c:v>
                </c:pt>
                <c:pt idx="1">
                  <c:v>Smartphone</c:v>
                </c:pt>
                <c:pt idx="2">
                  <c:v>Smart TV</c:v>
                </c:pt>
                <c:pt idx="3">
                  <c:v>Desktop</c:v>
                </c:pt>
                <c:pt idx="4">
                  <c:v>Laptop</c:v>
                </c:pt>
              </c:strCache>
            </c:strRef>
          </c:cat>
          <c:val>
            <c:numRef>
              <c:f>'Device Usage'!$B$4:$B$9</c:f>
              <c:numCache>
                <c:formatCode>General</c:formatCode>
                <c:ptCount val="5"/>
                <c:pt idx="0">
                  <c:v>215</c:v>
                </c:pt>
                <c:pt idx="1">
                  <c:v>209</c:v>
                </c:pt>
                <c:pt idx="2">
                  <c:v>209</c:v>
                </c:pt>
                <c:pt idx="3">
                  <c:v>189</c:v>
                </c:pt>
                <c:pt idx="4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9BA-4A26-AC85-61C665266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58174564655187"/>
          <c:y val="0.13851714295818865"/>
          <c:w val="0.21100717400599878"/>
          <c:h val="0.671424074062263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(1).xlsx]Device Usage!PivotTable4</c:name>
    <c:fmtId val="5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051041005495229"/>
          <c:y val="0.15832558139534883"/>
          <c:w val="0.59657957787956239"/>
          <c:h val="0.503623512177256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'Device Usage'!$B$20</c:f>
              <c:strCache>
                <c:ptCount val="1"/>
                <c:pt idx="0">
                  <c:v>Count of User_ID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'Device Usage'!$A$21:$A$25</c:f>
              <c:strCache>
                <c:ptCount val="4"/>
                <c:pt idx="0">
                  <c:v>Late Night</c:v>
                </c:pt>
                <c:pt idx="1">
                  <c:v>Evening</c:v>
                </c:pt>
                <c:pt idx="2">
                  <c:v>Afternoon</c:v>
                </c:pt>
                <c:pt idx="3">
                  <c:v>Morning</c:v>
                </c:pt>
              </c:strCache>
            </c:strRef>
          </c:cat>
          <c:val>
            <c:numRef>
              <c:f>'Device Usage'!$B$21:$B$25</c:f>
              <c:numCache>
                <c:formatCode>General</c:formatCode>
                <c:ptCount val="4"/>
                <c:pt idx="0">
                  <c:v>271</c:v>
                </c:pt>
                <c:pt idx="1">
                  <c:v>256</c:v>
                </c:pt>
                <c:pt idx="2">
                  <c:v>251</c:v>
                </c:pt>
                <c:pt idx="3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19-4850-B871-DD454FFB82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315184063"/>
        <c:axId val="308757551"/>
      </c:barChart>
      <c:lineChart>
        <c:grouping val="standard"/>
        <c:varyColors val="0"/>
        <c:ser>
          <c:idx val="1"/>
          <c:order val="1"/>
          <c:tx>
            <c:strRef>
              <c:f>'Device Usage'!$C$20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'Device Usage'!$A$21:$A$25</c:f>
              <c:strCache>
                <c:ptCount val="4"/>
                <c:pt idx="0">
                  <c:v>Late Night</c:v>
                </c:pt>
                <c:pt idx="1">
                  <c:v>Evening</c:v>
                </c:pt>
                <c:pt idx="2">
                  <c:v>Afternoon</c:v>
                </c:pt>
                <c:pt idx="3">
                  <c:v>Morning</c:v>
                </c:pt>
              </c:strCache>
            </c:strRef>
          </c:cat>
          <c:val>
            <c:numRef>
              <c:f>'Device Usage'!$C$21:$C$25</c:f>
              <c:numCache>
                <c:formatCode>0</c:formatCode>
                <c:ptCount val="4"/>
                <c:pt idx="0">
                  <c:v>245.98154981549814</c:v>
                </c:pt>
                <c:pt idx="1">
                  <c:v>255.39453125</c:v>
                </c:pt>
                <c:pt idx="2">
                  <c:v>247.07968127490039</c:v>
                </c:pt>
                <c:pt idx="3">
                  <c:v>272.32882882882882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19-4850-B871-DD454FFB82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506847"/>
        <c:axId val="121588511"/>
      </c:lineChart>
      <c:catAx>
        <c:axId val="3151840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/>
                  <a:t>Primary</a:t>
                </a:r>
                <a:r>
                  <a:rPr lang="en-IN" sz="1200" baseline="0" dirty="0"/>
                  <a:t> </a:t>
                </a:r>
                <a:r>
                  <a:rPr lang="en-IN" sz="1200" dirty="0"/>
                  <a:t>Watch</a:t>
                </a:r>
                <a:r>
                  <a:rPr lang="en-IN" sz="1200" baseline="0" dirty="0"/>
                  <a:t> </a:t>
                </a:r>
                <a:r>
                  <a:rPr lang="en-IN" sz="1200" dirty="0"/>
                  <a:t>Time</a:t>
                </a:r>
              </a:p>
            </c:rich>
          </c:tx>
          <c:layout>
            <c:manualLayout>
              <c:xMode val="edge"/>
              <c:yMode val="edge"/>
              <c:x val="0.33480497546502341"/>
              <c:y val="0.732967091988722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8757551"/>
        <c:crosses val="autoZero"/>
        <c:auto val="1"/>
        <c:lblAlgn val="ctr"/>
        <c:lblOffset val="100"/>
        <c:noMultiLvlLbl val="0"/>
      </c:catAx>
      <c:valAx>
        <c:axId val="308757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/>
                  <a:t>Count of User</a:t>
                </a:r>
                <a:r>
                  <a:rPr lang="en-IN" sz="1200" baseline="0" dirty="0"/>
                  <a:t> </a:t>
                </a:r>
                <a:r>
                  <a:rPr lang="en-IN" sz="1200" dirty="0"/>
                  <a:t>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184063"/>
        <c:crosses val="autoZero"/>
        <c:crossBetween val="between"/>
      </c:valAx>
      <c:valAx>
        <c:axId val="121588511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06847"/>
        <c:crosses val="max"/>
        <c:crossBetween val="between"/>
      </c:valAx>
      <c:catAx>
        <c:axId val="128506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5885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3048565007805399"/>
          <c:y val="0.77413311376940463"/>
          <c:w val="0.25499002167212759"/>
          <c:h val="0.225866908439118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(1).xlsx]Retention &amp; Loyalty!PivotTable6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Active vs. Inactive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2829E-3"/>
              <c:y val="-0.2916666666666666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2829E-3"/>
              <c:y val="-0.2916666666666666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2829E-3"/>
              <c:y val="-0.29166666666666669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0.15374108735366104"/>
          <c:y val="0.11975268063677914"/>
          <c:w val="0.64284705026303646"/>
          <c:h val="0.87607520046635945"/>
        </c:manualLayout>
      </c:layout>
      <c:doughnutChart>
        <c:varyColors val="1"/>
        <c:ser>
          <c:idx val="0"/>
          <c:order val="0"/>
          <c:tx>
            <c:strRef>
              <c:f>'Retention &amp; Loyalty'!$C$4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3F-418E-8DFE-5FB8C11FF8FC}"/>
              </c:ext>
            </c:extLst>
          </c:dPt>
          <c:dLbls>
            <c:dLbl>
              <c:idx val="0"/>
              <c:layout>
                <c:manualLayout>
                  <c:x val="8.3333333333332829E-3"/>
                  <c:y val="-0.29166666666666669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3F-418E-8DFE-5FB8C11FF8FC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'Retention &amp; Loyalty'!$B$5:$B$6</c:f>
              <c:strCache>
                <c:ptCount val="1"/>
                <c:pt idx="0">
                  <c:v>Active</c:v>
                </c:pt>
              </c:strCache>
            </c:strRef>
          </c:cat>
          <c:val>
            <c:numRef>
              <c:f>'Retention &amp; Loyalty'!$C$5:$C$6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3F-418E-8DFE-5FB8C11FF8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solidFill>
          <a:sysClr val="window" lastClr="FFFFFF"/>
        </a:solidFill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(1).xlsx]Retention &amp; Loyalty!PivotTable7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105051303413367"/>
          <c:y val="8.4749693958692571E-2"/>
          <c:w val="0.65987553160759282"/>
          <c:h val="0.67312572985858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'Retention &amp; Loyalty'!$C$18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'Retention &amp; Loyalty'!$B$19:$B$23</c:f>
              <c:strCache>
                <c:ptCount val="4"/>
                <c:pt idx="0">
                  <c:v>0-1000</c:v>
                </c:pt>
                <c:pt idx="1">
                  <c:v>1001-2000</c:v>
                </c:pt>
                <c:pt idx="2">
                  <c:v>2001-3000</c:v>
                </c:pt>
                <c:pt idx="3">
                  <c:v>4000+</c:v>
                </c:pt>
              </c:strCache>
            </c:strRef>
          </c:cat>
          <c:val>
            <c:numRef>
              <c:f>'Retention &amp; Loyalty'!$C$19:$C$23</c:f>
              <c:numCache>
                <c:formatCode>General</c:formatCode>
                <c:ptCount val="4"/>
                <c:pt idx="0">
                  <c:v>207</c:v>
                </c:pt>
                <c:pt idx="1">
                  <c:v>215</c:v>
                </c:pt>
                <c:pt idx="2">
                  <c:v>196</c:v>
                </c:pt>
                <c:pt idx="3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C0-4EB8-8975-6E8595EDEE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939359"/>
        <c:axId val="121573951"/>
      </c:barChart>
      <c:lineChart>
        <c:grouping val="standard"/>
        <c:varyColors val="0"/>
        <c:ser>
          <c:idx val="1"/>
          <c:order val="1"/>
          <c:tx>
            <c:strRef>
              <c:f>'Retention &amp; Loyalty'!$D$18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'Retention &amp; Loyalty'!$B$19:$B$23</c:f>
              <c:strCache>
                <c:ptCount val="4"/>
                <c:pt idx="0">
                  <c:v>0-1000</c:v>
                </c:pt>
                <c:pt idx="1">
                  <c:v>1001-2000</c:v>
                </c:pt>
                <c:pt idx="2">
                  <c:v>2001-3000</c:v>
                </c:pt>
                <c:pt idx="3">
                  <c:v>4000+</c:v>
                </c:pt>
              </c:strCache>
            </c:strRef>
          </c:cat>
          <c:val>
            <c:numRef>
              <c:f>'Retention &amp; Loyalty'!$D$19:$D$23</c:f>
              <c:numCache>
                <c:formatCode>0</c:formatCode>
                <c:ptCount val="4"/>
                <c:pt idx="0">
                  <c:v>265.55072463768118</c:v>
                </c:pt>
                <c:pt idx="1">
                  <c:v>245.4</c:v>
                </c:pt>
                <c:pt idx="2">
                  <c:v>255.4591836734694</c:v>
                </c:pt>
                <c:pt idx="3">
                  <c:v>253.18324607329842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C0-4EB8-8975-6E8595EDEE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5200463"/>
        <c:axId val="121563967"/>
      </c:lineChart>
      <c:catAx>
        <c:axId val="124939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Loyalty Points	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73951"/>
        <c:crosses val="autoZero"/>
        <c:auto val="1"/>
        <c:lblAlgn val="ctr"/>
        <c:lblOffset val="100"/>
        <c:noMultiLvlLbl val="0"/>
      </c:catAx>
      <c:valAx>
        <c:axId val="12157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User ID count	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939359"/>
        <c:crosses val="autoZero"/>
        <c:crossBetween val="between"/>
      </c:valAx>
      <c:valAx>
        <c:axId val="1215639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Aveg</a:t>
                </a:r>
                <a:r>
                  <a:rPr lang="en-IN" baseline="0"/>
                  <a:t> Watch Hour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5200463"/>
        <c:crosses val="max"/>
        <c:crossBetween val="between"/>
      </c:valAx>
      <c:catAx>
        <c:axId val="3152004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5639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(1).xlsx]Frequency of logins and content!PivotTable5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User Tenure vs Engagement Analysis	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370107548786899"/>
          <c:y val="0.17902516434217264"/>
          <c:w val="0.5869507197527396"/>
          <c:h val="0.702316154496214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'Frequency of logins and content'!$C$13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'Frequency of logins and content'!$B$14:$B$17</c:f>
              <c:strCache>
                <c:ptCount val="4"/>
                <c:pt idx="0">
                  <c:v>0-5</c:v>
                </c:pt>
                <c:pt idx="1">
                  <c:v>6-10</c:v>
                </c:pt>
                <c:pt idx="2">
                  <c:v>11-15</c:v>
                </c:pt>
                <c:pt idx="3">
                  <c:v>16+</c:v>
                </c:pt>
              </c:strCache>
            </c:strRef>
          </c:cat>
          <c:val>
            <c:numRef>
              <c:f>'Frequency of logins and content'!$C$14:$C$17</c:f>
              <c:numCache>
                <c:formatCode>General</c:formatCode>
                <c:ptCount val="4"/>
                <c:pt idx="0">
                  <c:v>263</c:v>
                </c:pt>
                <c:pt idx="1">
                  <c:v>200</c:v>
                </c:pt>
                <c:pt idx="2">
                  <c:v>218</c:v>
                </c:pt>
                <c:pt idx="3">
                  <c:v>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4-49EE-A109-A3818C2236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9996575"/>
        <c:axId val="308754639"/>
      </c:barChart>
      <c:lineChart>
        <c:grouping val="standard"/>
        <c:varyColors val="0"/>
        <c:ser>
          <c:idx val="1"/>
          <c:order val="1"/>
          <c:tx>
            <c:strRef>
              <c:f>'Frequency of logins and content'!$D$13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'Frequency of logins and content'!$B$14:$B$17</c:f>
              <c:strCache>
                <c:ptCount val="4"/>
                <c:pt idx="0">
                  <c:v>0-5</c:v>
                </c:pt>
                <c:pt idx="1">
                  <c:v>6-10</c:v>
                </c:pt>
                <c:pt idx="2">
                  <c:v>11-15</c:v>
                </c:pt>
                <c:pt idx="3">
                  <c:v>16+</c:v>
                </c:pt>
              </c:strCache>
            </c:strRef>
          </c:cat>
          <c:val>
            <c:numRef>
              <c:f>'Frequency of logins and content'!$D$14:$D$17</c:f>
              <c:numCache>
                <c:formatCode>0</c:formatCode>
                <c:ptCount val="4"/>
                <c:pt idx="0">
                  <c:v>250.11406844106463</c:v>
                </c:pt>
                <c:pt idx="1">
                  <c:v>254.10499999999999</c:v>
                </c:pt>
                <c:pt idx="2">
                  <c:v>262.62385321100919</c:v>
                </c:pt>
                <c:pt idx="3">
                  <c:v>252.86206896551724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94-49EE-A109-A3818C223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2050832"/>
        <c:axId val="1172052752"/>
      </c:lineChart>
      <c:valAx>
        <c:axId val="30875463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Count</a:t>
                </a:r>
                <a:r>
                  <a:rPr lang="en-IN" b="1" baseline="0"/>
                  <a:t> of user ID	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996575"/>
        <c:crosses val="autoZero"/>
        <c:crossBetween val="between"/>
      </c:valAx>
      <c:catAx>
        <c:axId val="1199965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Tenure Group Month	</a:t>
                </a:r>
              </a:p>
            </c:rich>
          </c:tx>
          <c:layout>
            <c:manualLayout>
              <c:xMode val="edge"/>
              <c:yMode val="edge"/>
              <c:x val="0.23967949923862569"/>
              <c:y val="0.917639497078203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8754639"/>
        <c:crosses val="autoZero"/>
        <c:auto val="1"/>
        <c:lblAlgn val="ctr"/>
        <c:lblOffset val="100"/>
        <c:noMultiLvlLbl val="0"/>
      </c:catAx>
      <c:valAx>
        <c:axId val="1172052752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050832"/>
        <c:crosses val="max"/>
        <c:crossBetween val="between"/>
      </c:valAx>
      <c:catAx>
        <c:axId val="1172050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720527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009979769412319"/>
          <c:y val="0.36558309205644623"/>
          <c:w val="0.20160663320758684"/>
          <c:h val="0.424854465307221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(1).xlsx]Frequency of logins and content!PivotTable6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Impact of Content Download on Engagement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97968309516866"/>
          <c:y val="0.26414473684210527"/>
          <c:w val="0.49750861220472442"/>
          <c:h val="0.56917046553391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'Frequency of logins and content'!$C$25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'Frequency of logins and content'!$B$26:$B$27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'Frequency of logins and content'!$C$26:$C$27</c:f>
              <c:numCache>
                <c:formatCode>0</c:formatCode>
                <c:ptCount val="2"/>
                <c:pt idx="0">
                  <c:v>251.61876247504989</c:v>
                </c:pt>
                <c:pt idx="1">
                  <c:v>257.42484969939881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96-45A6-9E2B-999EE20AC1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99494208"/>
        <c:axId val="999501888"/>
      </c:barChart>
      <c:barChart>
        <c:barDir val="col"/>
        <c:grouping val="clustered"/>
        <c:varyColors val="0"/>
        <c:ser>
          <c:idx val="1"/>
          <c:order val="1"/>
          <c:tx>
            <c:strRef>
              <c:f>'Frequency of logins and content'!$D$25</c:f>
              <c:strCache>
                <c:ptCount val="1"/>
                <c:pt idx="0">
                  <c:v>Average of Loyalty_Points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'Frequency of logins and content'!$B$26:$B$27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'Frequency of logins and content'!$D$26:$D$27</c:f>
              <c:numCache>
                <c:formatCode>0</c:formatCode>
                <c:ptCount val="2"/>
                <c:pt idx="0">
                  <c:v>2453.199600798403</c:v>
                </c:pt>
                <c:pt idx="1">
                  <c:v>2435.1983967935871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96-45A6-9E2B-999EE20AC1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9"/>
        <c:axId val="1785659984"/>
        <c:axId val="1785658064"/>
      </c:barChart>
      <c:catAx>
        <c:axId val="9994942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/>
                  <a:t>Has_Downloaded_Content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501888"/>
        <c:crosses val="autoZero"/>
        <c:auto val="1"/>
        <c:lblAlgn val="ctr"/>
        <c:lblOffset val="100"/>
        <c:noMultiLvlLbl val="0"/>
      </c:catAx>
      <c:valAx>
        <c:axId val="99950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baseline="0"/>
                  <a:t>Count of User_ID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494208"/>
        <c:crosses val="autoZero"/>
        <c:crossBetween val="between"/>
      </c:valAx>
      <c:valAx>
        <c:axId val="1785658064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659984"/>
        <c:crosses val="max"/>
        <c:crossBetween val="between"/>
      </c:valAx>
      <c:catAx>
        <c:axId val="17856599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85658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450520073879656"/>
          <c:y val="0.36274476792374633"/>
          <c:w val="0.23697628074268495"/>
          <c:h val="0.483830639591103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(1).xlsx]Preferred Payment Methods by Re!PivotTable7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103412073490815"/>
          <c:y val="1.2650602758898122E-3"/>
          <c:w val="0.58329593175853023"/>
          <c:h val="0.7676150535530884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'Preferred Payment Methods by Re'!$C$2:$C$3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'Preferred Payment Methods by Re'!$B$4:$B$11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'Preferred Payment Methods by Re'!$C$4:$C$11</c:f>
              <c:numCache>
                <c:formatCode>General</c:formatCode>
                <c:ptCount val="7"/>
                <c:pt idx="0">
                  <c:v>25</c:v>
                </c:pt>
                <c:pt idx="1">
                  <c:v>34</c:v>
                </c:pt>
                <c:pt idx="2">
                  <c:v>22</c:v>
                </c:pt>
                <c:pt idx="3">
                  <c:v>31</c:v>
                </c:pt>
                <c:pt idx="4">
                  <c:v>33</c:v>
                </c:pt>
                <c:pt idx="5">
                  <c:v>39</c:v>
                </c:pt>
                <c:pt idx="6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7-4711-B94C-3EE40D589E26}"/>
            </c:ext>
          </c:extLst>
        </c:ser>
        <c:ser>
          <c:idx val="1"/>
          <c:order val="1"/>
          <c:tx>
            <c:strRef>
              <c:f>'Preferred Payment Methods by Re'!$D$2:$D$3</c:f>
              <c:strCache>
                <c:ptCount val="1"/>
                <c:pt idx="0">
                  <c:v>Cryptocurrency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'Preferred Payment Methods by Re'!$B$4:$B$11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'Preferred Payment Methods by Re'!$D$4:$D$11</c:f>
              <c:numCache>
                <c:formatCode>General</c:formatCode>
                <c:ptCount val="7"/>
                <c:pt idx="0">
                  <c:v>29</c:v>
                </c:pt>
                <c:pt idx="1">
                  <c:v>27</c:v>
                </c:pt>
                <c:pt idx="2">
                  <c:v>44</c:v>
                </c:pt>
                <c:pt idx="3">
                  <c:v>35</c:v>
                </c:pt>
                <c:pt idx="4">
                  <c:v>38</c:v>
                </c:pt>
                <c:pt idx="5">
                  <c:v>41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27-4711-B94C-3EE40D589E26}"/>
            </c:ext>
          </c:extLst>
        </c:ser>
        <c:ser>
          <c:idx val="2"/>
          <c:order val="2"/>
          <c:tx>
            <c:strRef>
              <c:f>'Preferred Payment Methods by Re'!$E$2:$E$3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'Preferred Payment Methods by Re'!$B$4:$B$11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'Preferred Payment Methods by Re'!$E$4:$E$11</c:f>
              <c:numCache>
                <c:formatCode>General</c:formatCode>
                <c:ptCount val="7"/>
                <c:pt idx="0">
                  <c:v>39</c:v>
                </c:pt>
                <c:pt idx="1">
                  <c:v>36</c:v>
                </c:pt>
                <c:pt idx="2">
                  <c:v>38</c:v>
                </c:pt>
                <c:pt idx="3">
                  <c:v>43</c:v>
                </c:pt>
                <c:pt idx="4">
                  <c:v>31</c:v>
                </c:pt>
                <c:pt idx="5">
                  <c:v>31</c:v>
                </c:pt>
                <c:pt idx="6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27-4711-B94C-3EE40D589E26}"/>
            </c:ext>
          </c:extLst>
        </c:ser>
        <c:ser>
          <c:idx val="3"/>
          <c:order val="3"/>
          <c:tx>
            <c:strRef>
              <c:f>'Preferred Payment Methods by Re'!$F$2:$F$3</c:f>
              <c:strCache>
                <c:ptCount val="1"/>
                <c:pt idx="0">
                  <c:v>PayPal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'Preferred Payment Methods by Re'!$B$4:$B$11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'Preferred Payment Methods by Re'!$F$4:$F$11</c:f>
              <c:numCache>
                <c:formatCode>General</c:formatCode>
                <c:ptCount val="7"/>
                <c:pt idx="0">
                  <c:v>23</c:v>
                </c:pt>
                <c:pt idx="1">
                  <c:v>42</c:v>
                </c:pt>
                <c:pt idx="2">
                  <c:v>36</c:v>
                </c:pt>
                <c:pt idx="3">
                  <c:v>37</c:v>
                </c:pt>
                <c:pt idx="4">
                  <c:v>48</c:v>
                </c:pt>
                <c:pt idx="5">
                  <c:v>40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A27-4711-B94C-3EE40D589E2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99498528"/>
        <c:axId val="999500448"/>
      </c:barChart>
      <c:catAx>
        <c:axId val="999498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>
                    <a:effectLst/>
                  </a:rPr>
                  <a:t>Country</a:t>
                </a:r>
                <a:r>
                  <a:rPr lang="en-IN" sz="1000" b="0" i="0" u="none" strike="noStrike" baseline="0">
                    <a:effectLst/>
                  </a:rPr>
                  <a:t> 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500448"/>
        <c:crosses val="autoZero"/>
        <c:auto val="1"/>
        <c:lblAlgn val="ctr"/>
        <c:lblOffset val="100"/>
        <c:noMultiLvlLbl val="0"/>
      </c:catAx>
      <c:valAx>
        <c:axId val="999500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baseline="0">
                    <a:effectLst/>
                  </a:rPr>
                  <a:t>Payment_Method</a:t>
                </a:r>
                <a:r>
                  <a:rPr lang="en-IN" sz="1000" b="0" i="0" u="none" strike="noStrike" baseline="0">
                    <a:effectLst/>
                  </a:rPr>
                  <a:t> 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9498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870189052455403"/>
          <c:y val="0.11322298061169588"/>
          <c:w val="0.13970390657689527"/>
          <c:h val="0.612317346698184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(1).xlsx]Subscription Trends by Country!PivotTable8</c:name>
    <c:fmtId val="1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048118985126859"/>
          <c:y val="0.14393518518518519"/>
          <c:w val="0.62451830149138332"/>
          <c:h val="0.597045421405657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'Subscription Trends by Country'!$C$2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'Subscription Trends by Country'!$B$3:$B$9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'Subscription Trends by Country'!$C$3:$C$9</c:f>
              <c:numCache>
                <c:formatCode>General</c:formatCode>
                <c:ptCount val="7"/>
                <c:pt idx="0">
                  <c:v>116</c:v>
                </c:pt>
                <c:pt idx="1">
                  <c:v>139</c:v>
                </c:pt>
                <c:pt idx="2">
                  <c:v>140</c:v>
                </c:pt>
                <c:pt idx="3">
                  <c:v>146</c:v>
                </c:pt>
                <c:pt idx="4">
                  <c:v>150</c:v>
                </c:pt>
                <c:pt idx="5">
                  <c:v>151</c:v>
                </c:pt>
                <c:pt idx="6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38-4FB6-8BC5-A010BCFBB6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988936048"/>
        <c:axId val="988937488"/>
      </c:barChart>
      <c:lineChart>
        <c:grouping val="standard"/>
        <c:varyColors val="0"/>
        <c:ser>
          <c:idx val="1"/>
          <c:order val="1"/>
          <c:tx>
            <c:strRef>
              <c:f>'Subscription Trends by Country'!$D$2</c:f>
              <c:strCache>
                <c:ptCount val="1"/>
                <c:pt idx="0">
                  <c:v>Sum of Monthly_Price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'Subscription Trends by Country'!$B$3:$B$9</c:f>
              <c:strCache>
                <c:ptCount val="7"/>
                <c:pt idx="0">
                  <c:v>India</c:v>
                </c:pt>
                <c:pt idx="1">
                  <c:v>Canada</c:v>
                </c:pt>
                <c:pt idx="2">
                  <c:v>Australia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USA</c:v>
                </c:pt>
              </c:strCache>
            </c:strRef>
          </c:cat>
          <c:val>
            <c:numRef>
              <c:f>'Subscription Trends by Country'!$D$3:$D$9</c:f>
              <c:numCache>
                <c:formatCode>0</c:formatCode>
                <c:ptCount val="7"/>
                <c:pt idx="0">
                  <c:v>1402.8400000000008</c:v>
                </c:pt>
                <c:pt idx="1">
                  <c:v>1678.610000000001</c:v>
                </c:pt>
                <c:pt idx="2">
                  <c:v>1726.600000000001</c:v>
                </c:pt>
                <c:pt idx="3">
                  <c:v>1738.5400000000011</c:v>
                </c:pt>
                <c:pt idx="4">
                  <c:v>1806.5000000000011</c:v>
                </c:pt>
                <c:pt idx="5">
                  <c:v>1782.4900000000011</c:v>
                </c:pt>
                <c:pt idx="6">
                  <c:v>1890.4200000000012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38-4FB6-8BC5-A010BCFBB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39134160"/>
        <c:axId val="939155760"/>
      </c:lineChart>
      <c:catAx>
        <c:axId val="9889360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layout>
            <c:manualLayout>
              <c:xMode val="edge"/>
              <c:yMode val="edge"/>
              <c:x val="0.37761395450568674"/>
              <c:y val="0.901828521434820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937488"/>
        <c:crosses val="autoZero"/>
        <c:auto val="1"/>
        <c:lblAlgn val="ctr"/>
        <c:lblOffset val="100"/>
        <c:noMultiLvlLbl val="0"/>
      </c:catAx>
      <c:valAx>
        <c:axId val="988937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ID</a:t>
                </a:r>
              </a:p>
            </c:rich>
          </c:tx>
          <c:layout>
            <c:manualLayout>
              <c:xMode val="edge"/>
              <c:yMode val="edge"/>
              <c:x val="2.4889010966652424E-2"/>
              <c:y val="0.33701485099172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936048"/>
        <c:crosses val="autoZero"/>
        <c:crossBetween val="between"/>
      </c:valAx>
      <c:valAx>
        <c:axId val="939155760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9134160"/>
        <c:crosses val="max"/>
        <c:crossBetween val="between"/>
      </c:valAx>
      <c:catAx>
        <c:axId val="93913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391557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66850512977165"/>
          <c:y val="0.43757898933519385"/>
          <c:w val="0.1933149487022835"/>
          <c:h val="0.347231137247084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[Bala Mahender streaming_service_data (1) (1).xlsx]Language preferences and thei!PivotTable9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Language preferences and their correlation with engagement	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'Language preferences and thei'!$D$2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'Language preferences and thei'!$B$3:$B$9</c:f>
              <c:strCache>
                <c:ptCount val="6"/>
                <c:pt idx="0">
                  <c:v>English</c:v>
                </c:pt>
                <c:pt idx="1">
                  <c:v>French</c:v>
                </c:pt>
                <c:pt idx="2">
                  <c:v>German</c:v>
                </c:pt>
                <c:pt idx="3">
                  <c:v>Hindi</c:v>
                </c:pt>
                <c:pt idx="4">
                  <c:v>Mandarin</c:v>
                </c:pt>
                <c:pt idx="5">
                  <c:v>Spanish</c:v>
                </c:pt>
              </c:strCache>
            </c:strRef>
          </c:cat>
          <c:val>
            <c:numRef>
              <c:f>'Language preferences and thei'!$D$3:$D$9</c:f>
              <c:numCache>
                <c:formatCode>0</c:formatCode>
                <c:ptCount val="6"/>
                <c:pt idx="0">
                  <c:v>168</c:v>
                </c:pt>
                <c:pt idx="1">
                  <c:v>171</c:v>
                </c:pt>
                <c:pt idx="2">
                  <c:v>167</c:v>
                </c:pt>
                <c:pt idx="3">
                  <c:v>162</c:v>
                </c:pt>
                <c:pt idx="4">
                  <c:v>179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F-44F5-8500-1A7221FEB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85658544"/>
        <c:axId val="1785657104"/>
      </c:barChart>
      <c:lineChart>
        <c:grouping val="standard"/>
        <c:varyColors val="0"/>
        <c:ser>
          <c:idx val="0"/>
          <c:order val="0"/>
          <c:tx>
            <c:strRef>
              <c:f>'Language preferences and thei'!$C$2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'Language preferences and thei'!$B$3:$B$9</c:f>
              <c:strCache>
                <c:ptCount val="6"/>
                <c:pt idx="0">
                  <c:v>English</c:v>
                </c:pt>
                <c:pt idx="1">
                  <c:v>French</c:v>
                </c:pt>
                <c:pt idx="2">
                  <c:v>German</c:v>
                </c:pt>
                <c:pt idx="3">
                  <c:v>Hindi</c:v>
                </c:pt>
                <c:pt idx="4">
                  <c:v>Mandarin</c:v>
                </c:pt>
                <c:pt idx="5">
                  <c:v>Spanish</c:v>
                </c:pt>
              </c:strCache>
            </c:strRef>
          </c:cat>
          <c:val>
            <c:numRef>
              <c:f>'Language preferences and thei'!$C$3:$C$9</c:f>
              <c:numCache>
                <c:formatCode>0</c:formatCode>
                <c:ptCount val="6"/>
                <c:pt idx="0">
                  <c:v>248.38095238095238</c:v>
                </c:pt>
                <c:pt idx="1">
                  <c:v>273.46198830409355</c:v>
                </c:pt>
                <c:pt idx="2">
                  <c:v>244.79640718562874</c:v>
                </c:pt>
                <c:pt idx="3">
                  <c:v>253.35802469135803</c:v>
                </c:pt>
                <c:pt idx="4">
                  <c:v>243.33519553072625</c:v>
                </c:pt>
                <c:pt idx="5">
                  <c:v>264.99346405228761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1F-44F5-8500-1A7221FEB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658544"/>
        <c:axId val="1785657104"/>
      </c:lineChart>
      <c:catAx>
        <c:axId val="178565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657104"/>
        <c:crosses val="autoZero"/>
        <c:auto val="1"/>
        <c:lblAlgn val="ctr"/>
        <c:lblOffset val="100"/>
        <c:noMultiLvlLbl val="0"/>
      </c:catAx>
      <c:valAx>
        <c:axId val="1785657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658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68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13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21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7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3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4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69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61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1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1295"/>
            <a:ext cx="7772400" cy="225014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Streaming Service User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0370" y="5524010"/>
            <a:ext cx="3420081" cy="522539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rgbClr val="7030A0"/>
                </a:solidFill>
              </a:rPr>
              <a:t>repared</a:t>
            </a:r>
            <a:r>
              <a:rPr dirty="0">
                <a:solidFill>
                  <a:srgbClr val="7030A0"/>
                </a:solidFill>
              </a:rPr>
              <a:t> by </a:t>
            </a:r>
            <a:r>
              <a:rPr dirty="0" err="1">
                <a:solidFill>
                  <a:srgbClr val="7030A0"/>
                </a:solidFill>
              </a:rPr>
              <a:t>Bala</a:t>
            </a:r>
            <a:r>
              <a:rPr dirty="0">
                <a:solidFill>
                  <a:srgbClr val="7030A0"/>
                </a:solidFill>
              </a:rPr>
              <a:t> Mahender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6936F-02D2-41DD-8CB6-CD607F42FFE9}"/>
              </a:ext>
            </a:extLst>
          </p:cNvPr>
          <p:cNvSpPr/>
          <p:nvPr/>
        </p:nvSpPr>
        <p:spPr>
          <a:xfrm>
            <a:off x="2357718" y="352717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Business Intelligence Dashboard &amp; Strategic Insights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23FD8-9110-4D63-90F4-233628895F0A}"/>
              </a:ext>
            </a:extLst>
          </p:cNvPr>
          <p:cNvSpPr/>
          <p:nvPr/>
        </p:nvSpPr>
        <p:spPr>
          <a:xfrm>
            <a:off x="7056677" y="224589"/>
            <a:ext cx="1843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Date:-21-02-2026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284" y="792963"/>
            <a:ext cx="6571343" cy="809127"/>
          </a:xfrm>
        </p:spPr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user behavior, engagement, and revenue trends.</a:t>
            </a:r>
          </a:p>
          <a:p>
            <a:pPr lvl="1"/>
            <a:r>
              <a:rPr dirty="0"/>
              <a:t>Identify regional and demographic preferences.</a:t>
            </a:r>
          </a:p>
          <a:p>
            <a:pPr lvl="1"/>
            <a:r>
              <a:rPr dirty="0"/>
              <a:t>Provide actionable business recommendations.</a:t>
            </a:r>
            <a:endParaRPr lang="en-US" dirty="0"/>
          </a:p>
          <a:p>
            <a:pPr lvl="1"/>
            <a:r>
              <a:rPr lang="en-US" dirty="0"/>
              <a:t>Clear strategic growth opportunities identified.</a:t>
            </a:r>
          </a:p>
          <a:p>
            <a:pPr lvl="1"/>
            <a:r>
              <a:rPr lang="en-US" dirty="0"/>
              <a:t>Engagement influenced by recommendations &amp; language preference.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3389-B4DA-47B9-A80E-358813BF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18" y="1166470"/>
            <a:ext cx="7575563" cy="587717"/>
          </a:xfrm>
        </p:spPr>
        <p:txBody>
          <a:bodyPr>
            <a:noAutofit/>
          </a:bodyPr>
          <a:lstStyle/>
          <a:p>
            <a:r>
              <a:rPr lang="en-US" sz="2400" dirty="0"/>
              <a:t>Monthly Revenue Trend by Subscription Plan</a:t>
            </a:r>
            <a:endParaRPr lang="en-IN" sz="24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5E7595C-B705-443C-AD5C-A594568AB4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798257"/>
              </p:ext>
            </p:extLst>
          </p:nvPr>
        </p:nvGraphicFramePr>
        <p:xfrm>
          <a:off x="1658471" y="1863678"/>
          <a:ext cx="6024282" cy="3005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6712D17-FA11-4660-BF5D-CCFDDC673A5B}"/>
              </a:ext>
            </a:extLst>
          </p:cNvPr>
          <p:cNvSpPr/>
          <p:nvPr/>
        </p:nvSpPr>
        <p:spPr>
          <a:xfrm>
            <a:off x="1048869" y="4668521"/>
            <a:ext cx="786204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u="sng" dirty="0">
                <a:solidFill>
                  <a:schemeClr val="accent1"/>
                </a:solidFill>
              </a:rPr>
              <a:t>Observations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•Premium plan (15.99) consistently generates highest monthly revenue.</a:t>
            </a:r>
            <a:br>
              <a:rPr lang="en-US" sz="1400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rgbClr val="002060"/>
                </a:solidFill>
              </a:rPr>
              <a:t>• Mid-tier plan (11.99) shows stable performance across months.</a:t>
            </a:r>
            <a:br>
              <a:rPr lang="en-US" sz="1400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rgbClr val="002060"/>
                </a:solidFill>
              </a:rPr>
              <a:t>• Revenue peaks observed in September and December.</a:t>
            </a:r>
            <a:br>
              <a:rPr lang="en-US" sz="1400" dirty="0">
                <a:solidFill>
                  <a:srgbClr val="002060"/>
                </a:solidFill>
              </a:rPr>
            </a:br>
            <a:r>
              <a:rPr lang="en-US" sz="1400" dirty="0">
                <a:solidFill>
                  <a:srgbClr val="002060"/>
                </a:solidFill>
              </a:rPr>
              <a:t>• Lower-tier plan (7.99) contributes smallest but steady revenue stream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86FCE99-3BBA-462F-AD42-2049EFECE8EB}"/>
              </a:ext>
            </a:extLst>
          </p:cNvPr>
          <p:cNvSpPr txBox="1">
            <a:spLocks/>
          </p:cNvSpPr>
          <p:nvPr/>
        </p:nvSpPr>
        <p:spPr>
          <a:xfrm>
            <a:off x="1384940" y="464741"/>
            <a:ext cx="6571343" cy="5871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Subscription &amp; Revenue 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99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587134"/>
          </a:xfrm>
        </p:spPr>
        <p:txBody>
          <a:bodyPr>
            <a:normAutofit fontScale="90000"/>
          </a:bodyPr>
          <a:lstStyle/>
          <a:p>
            <a:r>
              <a:rPr dirty="0"/>
              <a:t>Subscription &amp; Revenue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IN" dirty="0"/>
              <a:t>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5492" y="1897867"/>
            <a:ext cx="5351756" cy="3899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Distribution of users Across Different Price Tiers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42A4E23-DD93-D848-461D-1B616497DA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124159"/>
              </p:ext>
            </p:extLst>
          </p:nvPr>
        </p:nvGraphicFramePr>
        <p:xfrm>
          <a:off x="1443491" y="2287777"/>
          <a:ext cx="6571343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7DBB838-4F13-4232-9429-AE88EE7A30F8}"/>
              </a:ext>
            </a:extLst>
          </p:cNvPr>
          <p:cNvSpPr/>
          <p:nvPr/>
        </p:nvSpPr>
        <p:spPr>
          <a:xfrm>
            <a:off x="1728334" y="5106801"/>
            <a:ext cx="62865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🧠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Key Observations</a:t>
            </a:r>
          </a:p>
          <a:p>
            <a:r>
              <a:rPr lang="en-US" sz="1600" dirty="0">
                <a:solidFill>
                  <a:schemeClr val="accent1"/>
                </a:solidFill>
              </a:rPr>
              <a:t>• User distribution remains balanced across all subscription tiers.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• </a:t>
            </a:r>
            <a:r>
              <a:rPr lang="en-US" sz="1600" dirty="0">
                <a:solidFill>
                  <a:schemeClr val="accent1"/>
                </a:solidFill>
                <a:highlight>
                  <a:srgbClr val="FFFF00"/>
                </a:highlight>
              </a:rPr>
              <a:t>Mid-tier plan (11.99) has slightly higher adoption.</a:t>
            </a:r>
            <a:br>
              <a:rPr lang="en-US" sz="1600" dirty="0">
                <a:solidFill>
                  <a:schemeClr val="accent1"/>
                </a:solidFill>
                <a:highlight>
                  <a:srgbClr val="FFFF00"/>
                </a:highlight>
              </a:rPr>
            </a:br>
            <a:r>
              <a:rPr lang="en-US" sz="1600" dirty="0">
                <a:solidFill>
                  <a:schemeClr val="accent1"/>
                </a:solidFill>
              </a:rPr>
              <a:t>• No significant concentration in a single pricing segment.</a:t>
            </a:r>
            <a:endParaRPr lang="en-IN" sz="1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Tenure vs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3643" y="1853755"/>
            <a:ext cx="6406488" cy="337700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Average watch hours per user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306448-EB7A-32DF-A552-AB80630CA0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277183"/>
              </p:ext>
            </p:extLst>
          </p:nvPr>
        </p:nvGraphicFramePr>
        <p:xfrm>
          <a:off x="1773642" y="2209493"/>
          <a:ext cx="6241191" cy="2913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8753C4B-E717-BF49-03CC-336CBEDBB137}"/>
              </a:ext>
            </a:extLst>
          </p:cNvPr>
          <p:cNvSpPr txBox="1"/>
          <p:nvPr/>
        </p:nvSpPr>
        <p:spPr>
          <a:xfrm>
            <a:off x="1679465" y="4958678"/>
            <a:ext cx="712040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🧠 Key Observations</a:t>
            </a:r>
          </a:p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Average watch hours remain relatively consistent across users.</a:t>
            </a:r>
            <a:b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No significant engagement outliers observed.</a:t>
            </a:r>
            <a:b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Engagement variation range is limited (~21 hours).</a:t>
            </a:r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BB16-7E75-9104-5C09-0E1B52EE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440" y="598044"/>
            <a:ext cx="7669315" cy="414679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Total Movies vs Series Watched by Age Group</a:t>
            </a:r>
            <a:endParaRPr lang="en-IN" sz="24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47B325-494B-0E7D-EF6A-D107E0FE5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448519"/>
              </p:ext>
            </p:extLst>
          </p:nvPr>
        </p:nvGraphicFramePr>
        <p:xfrm>
          <a:off x="1285875" y="1249634"/>
          <a:ext cx="6572250" cy="3360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910D8B-6D31-ABE5-6B5B-D459B3079EA9}"/>
              </a:ext>
            </a:extLst>
          </p:cNvPr>
          <p:cNvSpPr txBox="1"/>
          <p:nvPr/>
        </p:nvSpPr>
        <p:spPr>
          <a:xfrm>
            <a:off x="1158055" y="4455024"/>
            <a:ext cx="76693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Key Observations</a:t>
            </a:r>
          </a:p>
          <a:p>
            <a:pPr>
              <a:buNone/>
            </a:pPr>
            <a:r>
              <a:rPr lang="en-US" dirty="0"/>
              <a:t>1️⃣ Movies dominate across all age groups.</a:t>
            </a:r>
            <a:br>
              <a:rPr lang="en-US" dirty="0"/>
            </a:br>
            <a:r>
              <a:rPr lang="en-US" dirty="0"/>
              <a:t>2️⃣ 35–44 age group shows highest overall consumption.</a:t>
            </a:r>
            <a:br>
              <a:rPr lang="en-US" dirty="0"/>
            </a:br>
            <a:r>
              <a:rPr lang="en-US" dirty="0"/>
              <a:t>3️⃣ Series consumption peaks in middle-aged groups (35–54).</a:t>
            </a:r>
            <a:br>
              <a:rPr lang="en-US" dirty="0"/>
            </a:br>
            <a:r>
              <a:rPr lang="en-US" dirty="0"/>
              <a:t>4️⃣ Younger segment (18–24) shows comparatively lower total consumption</a:t>
            </a:r>
          </a:p>
        </p:txBody>
      </p:sp>
    </p:spTree>
    <p:extLst>
      <p:ext uri="{BB962C8B-B14F-4D97-AF65-F5344CB8AC3E}">
        <p14:creationId xmlns:p14="http://schemas.microsoft.com/office/powerpoint/2010/main" val="356253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Impact of Recommended Content on Engagement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99CE5C-7E45-44D0-AFFD-E93E7BD6EC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030542"/>
              </p:ext>
            </p:extLst>
          </p:nvPr>
        </p:nvGraphicFramePr>
        <p:xfrm>
          <a:off x="1443491" y="1973662"/>
          <a:ext cx="6263147" cy="291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59F4A0-7AB3-876B-AB9E-A2821FDAC61F}"/>
              </a:ext>
            </a:extLst>
          </p:cNvPr>
          <p:cNvSpPr txBox="1"/>
          <p:nvPr/>
        </p:nvSpPr>
        <p:spPr>
          <a:xfrm>
            <a:off x="849107" y="4498258"/>
            <a:ext cx="829489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Key Observations</a:t>
            </a:r>
          </a:p>
          <a:p>
            <a:pPr>
              <a:buNone/>
            </a:pPr>
            <a:r>
              <a:rPr lang="en-US" sz="1600" dirty="0"/>
              <a:t>1️⃣ Moderate recommendation exposure (1–10 items) shows strong engagement.</a:t>
            </a:r>
          </a:p>
          <a:p>
            <a:pPr>
              <a:buNone/>
            </a:pPr>
            <a:r>
              <a:rPr lang="en-US" sz="1600" dirty="0"/>
              <a:t>2️⃣ High-volume recommendations (21+) do not proportionally increase watch hours.</a:t>
            </a:r>
          </a:p>
          <a:p>
            <a:pPr>
              <a:buNone/>
            </a:pPr>
            <a:r>
              <a:rPr lang="en-US" sz="1600" dirty="0"/>
              <a:t>3️⃣ Overexposure may dilute recommendation effectiveness.</a:t>
            </a:r>
          </a:p>
          <a:p>
            <a:pPr>
              <a:buNone/>
            </a:pPr>
            <a:r>
              <a:rPr lang="en-US" sz="1600" dirty="0"/>
              <a:t>4️⃣ Small “no recommendation” segment shows high engagement (limited sample size).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398" y="1066828"/>
            <a:ext cx="6571343" cy="524617"/>
          </a:xfrm>
        </p:spPr>
        <p:txBody>
          <a:bodyPr>
            <a:normAutofit/>
          </a:bodyPr>
          <a:lstStyle/>
          <a:p>
            <a:r>
              <a:rPr sz="2800" dirty="0"/>
              <a:t>Genre Preference by Age Group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DEFE8F-8344-45F9-B672-C377671EF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67491"/>
              </p:ext>
            </p:extLst>
          </p:nvPr>
        </p:nvGraphicFramePr>
        <p:xfrm>
          <a:off x="1443491" y="1329137"/>
          <a:ext cx="6572250" cy="3268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CDA515-4BB1-F8A1-5AD0-4F6DE9BA9899}"/>
              </a:ext>
            </a:extLst>
          </p:cNvPr>
          <p:cNvSpPr txBox="1"/>
          <p:nvPr/>
        </p:nvSpPr>
        <p:spPr>
          <a:xfrm>
            <a:off x="1070333" y="4404081"/>
            <a:ext cx="73176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🧠 </a:t>
            </a:r>
            <a:r>
              <a:rPr lang="en-US" b="1" dirty="0">
                <a:solidFill>
                  <a:srgbClr val="00B050"/>
                </a:solidFill>
              </a:rPr>
              <a:t>Key Observations</a:t>
            </a:r>
          </a:p>
          <a:p>
            <a:r>
              <a:rPr lang="en-US" dirty="0"/>
              <a:t>1️⃣</a:t>
            </a:r>
            <a:r>
              <a:rPr lang="en-US" dirty="0">
                <a:solidFill>
                  <a:srgbClr val="00B050"/>
                </a:solidFill>
              </a:rPr>
              <a:t> Genre preferences vary significantly across age segments.</a:t>
            </a:r>
          </a:p>
          <a:p>
            <a:r>
              <a:rPr lang="en-US" dirty="0"/>
              <a:t>2️⃣ </a:t>
            </a:r>
            <a:r>
              <a:rPr lang="en-US" dirty="0">
                <a:solidFill>
                  <a:srgbClr val="00B050"/>
                </a:solidFill>
              </a:rPr>
              <a:t>Younger users (18–24) prefer Documentary &amp; Horror content.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/>
              <a:t>3️⃣</a:t>
            </a:r>
            <a:r>
              <a:rPr lang="en-US" dirty="0">
                <a:solidFill>
                  <a:srgbClr val="00B050"/>
                </a:solidFill>
              </a:rPr>
              <a:t> Middle-aged users (35–54) show higher Romance &amp; Action engagement.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/>
              <a:t>4️⃣ </a:t>
            </a:r>
            <a:r>
              <a:rPr lang="en-US" dirty="0">
                <a:solidFill>
                  <a:srgbClr val="00B050"/>
                </a:solidFill>
              </a:rPr>
              <a:t>55+ segment strongly prefers Comedy content.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2FA16-810C-727F-CA05-77237761AB1C}"/>
              </a:ext>
            </a:extLst>
          </p:cNvPr>
          <p:cNvSpPr txBox="1"/>
          <p:nvPr/>
        </p:nvSpPr>
        <p:spPr>
          <a:xfrm>
            <a:off x="1600807" y="172880"/>
            <a:ext cx="6944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3. Demographic &amp; </a:t>
            </a:r>
            <a:r>
              <a:rPr lang="en-IN" sz="2400" b="1" dirty="0" err="1"/>
              <a:t>Behavioral</a:t>
            </a:r>
            <a:r>
              <a:rPr lang="en-IN" sz="2400" b="1" dirty="0"/>
              <a:t> Insights: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70CF-1EE7-8A75-4CC3-43A92D1E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95" y="904872"/>
            <a:ext cx="6571343" cy="1049235"/>
          </a:xfrm>
        </p:spPr>
        <p:txBody>
          <a:bodyPr/>
          <a:lstStyle/>
          <a:p>
            <a:r>
              <a:rPr lang="en-IN" dirty="0"/>
              <a:t>Device usage trends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C33B85-3EB5-44C6-88BD-2BD8DA7DF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917974"/>
              </p:ext>
            </p:extLst>
          </p:nvPr>
        </p:nvGraphicFramePr>
        <p:xfrm>
          <a:off x="1680240" y="1526971"/>
          <a:ext cx="5783519" cy="3449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B88868-0E86-F778-4A3D-9BD36F6BF468}"/>
              </a:ext>
            </a:extLst>
          </p:cNvPr>
          <p:cNvSpPr txBox="1"/>
          <p:nvPr/>
        </p:nvSpPr>
        <p:spPr>
          <a:xfrm>
            <a:off x="1443491" y="4534561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🎯 Business Insight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C67B4-5F22-CFFA-40F5-4EF8702ACD95}"/>
              </a:ext>
            </a:extLst>
          </p:cNvPr>
          <p:cNvSpPr txBox="1"/>
          <p:nvPr/>
        </p:nvSpPr>
        <p:spPr>
          <a:xfrm>
            <a:off x="1473295" y="4903893"/>
            <a:ext cx="767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1️⃣ Device usage is evenly distributed across platforms.</a:t>
            </a:r>
            <a:br>
              <a:rPr lang="en-US" dirty="0"/>
            </a:br>
            <a:r>
              <a:rPr lang="en-US" dirty="0"/>
              <a:t>2️⃣ Mobile devices account for 42% of total usage.</a:t>
            </a:r>
            <a:br>
              <a:rPr lang="en-US" dirty="0"/>
            </a:br>
            <a:r>
              <a:rPr lang="en-US" dirty="0"/>
              <a:t>3️⃣ Smart TV engagement highlights strong large-screen consumption.</a:t>
            </a:r>
            <a:br>
              <a:rPr lang="en-US" dirty="0"/>
            </a:br>
            <a:r>
              <a:rPr lang="en-US" dirty="0"/>
              <a:t>4️⃣ Multi-device optimization is critical for user retention.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0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Watch Time Trends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053931-B515-4959-800B-8A0F85A60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480824"/>
              </p:ext>
            </p:extLst>
          </p:nvPr>
        </p:nvGraphicFramePr>
        <p:xfrm>
          <a:off x="1443491" y="1554170"/>
          <a:ext cx="6572250" cy="3450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71CDC4-30A3-F12E-9844-3DF7FB7DA680}"/>
              </a:ext>
            </a:extLst>
          </p:cNvPr>
          <p:cNvSpPr txBox="1"/>
          <p:nvPr/>
        </p:nvSpPr>
        <p:spPr>
          <a:xfrm>
            <a:off x="1443491" y="4576152"/>
            <a:ext cx="588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🧠 </a:t>
            </a:r>
            <a:r>
              <a:rPr lang="en-US" b="1" dirty="0">
                <a:solidFill>
                  <a:srgbClr val="002060"/>
                </a:solidFill>
              </a:rPr>
              <a:t>Key Observations</a:t>
            </a:r>
          </a:p>
          <a:p>
            <a:r>
              <a:rPr lang="en-US" sz="1600" dirty="0">
                <a:solidFill>
                  <a:srgbClr val="002060"/>
                </a:solidFill>
              </a:rPr>
              <a:t>• Late Night shows highest user activity.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• Morning viewers demonstrate highest average watch hours.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• Engagement intensity varies by time of day.</a:t>
            </a:r>
            <a:br>
              <a:rPr lang="en-US" sz="1600" dirty="0">
                <a:solidFill>
                  <a:srgbClr val="002060"/>
                </a:solidFill>
              </a:rPr>
            </a:br>
            <a:r>
              <a:rPr lang="en-US" sz="1600" dirty="0">
                <a:solidFill>
                  <a:srgbClr val="002060"/>
                </a:solidFill>
              </a:rPr>
              <a:t>• Content scheduling strategy can improve viewership.</a:t>
            </a:r>
            <a:endParaRPr lang="en-IN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7CE9-7A1D-D755-496D-E1F649D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131" y="245172"/>
            <a:ext cx="6571343" cy="732821"/>
          </a:xfrm>
        </p:spPr>
        <p:txBody>
          <a:bodyPr/>
          <a:lstStyle/>
          <a:p>
            <a:r>
              <a:rPr lang="en-IN" dirty="0"/>
              <a:t>4.Retention &amp;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7365-54A5-31FA-317A-FF8403A38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8225" y="1340751"/>
            <a:ext cx="4672175" cy="373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Membership status (Active vs. Inactive)</a:t>
            </a: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26D6B0-519A-4059-835C-AFA7A0FC1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6400425"/>
              </p:ext>
            </p:extLst>
          </p:nvPr>
        </p:nvGraphicFramePr>
        <p:xfrm>
          <a:off x="2694038" y="1887794"/>
          <a:ext cx="4395019" cy="287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5104F0-0123-2EE6-96AB-20EA649F091A}"/>
              </a:ext>
            </a:extLst>
          </p:cNvPr>
          <p:cNvSpPr txBox="1"/>
          <p:nvPr/>
        </p:nvSpPr>
        <p:spPr>
          <a:xfrm>
            <a:off x="1020096" y="4951275"/>
            <a:ext cx="8055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The dataset reflects a fully active user base with no inactive users recorded. This indicates a 100% retention rate within the observed period, though further time-based analysis would be required to assess long-term churn trends."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CA979-C737-3E05-DABD-419297A9091B}"/>
              </a:ext>
            </a:extLst>
          </p:cNvPr>
          <p:cNvSpPr txBox="1"/>
          <p:nvPr/>
        </p:nvSpPr>
        <p:spPr>
          <a:xfrm>
            <a:off x="1167580" y="2798717"/>
            <a:ext cx="2057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100% Active Users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0% Inactive Users</a:t>
            </a:r>
          </a:p>
        </p:txBody>
      </p:sp>
    </p:spTree>
    <p:extLst>
      <p:ext uri="{BB962C8B-B14F-4D97-AF65-F5344CB8AC3E}">
        <p14:creationId xmlns:p14="http://schemas.microsoft.com/office/powerpoint/2010/main" val="759127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38865"/>
            <a:ext cx="6571343" cy="614890"/>
          </a:xfrm>
        </p:spPr>
        <p:txBody>
          <a:bodyPr>
            <a:normAutofit/>
          </a:bodyPr>
          <a:lstStyle/>
          <a:p>
            <a:r>
              <a:rPr dirty="0"/>
              <a:t>Loyalty</a:t>
            </a:r>
            <a:r>
              <a:rPr lang="en-IN" dirty="0"/>
              <a:t> points</a:t>
            </a:r>
            <a:r>
              <a:rPr dirty="0"/>
              <a:t>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B3FD7C-D12B-4390-BFCF-9743CDD76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910553"/>
              </p:ext>
            </p:extLst>
          </p:nvPr>
        </p:nvGraphicFramePr>
        <p:xfrm>
          <a:off x="1285875" y="1729981"/>
          <a:ext cx="6414634" cy="28755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8A89A6-C9A7-C42D-A333-2715574D8C53}"/>
              </a:ext>
            </a:extLst>
          </p:cNvPr>
          <p:cNvSpPr txBox="1"/>
          <p:nvPr/>
        </p:nvSpPr>
        <p:spPr>
          <a:xfrm>
            <a:off x="1061884" y="4605542"/>
            <a:ext cx="80821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🧠 </a:t>
            </a:r>
            <a:r>
              <a:rPr lang="en-US" b="1" dirty="0">
                <a:solidFill>
                  <a:srgbClr val="002060"/>
                </a:solidFill>
              </a:rPr>
              <a:t>Key Observations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Majority of users fall in 4000+ loyalty segment.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Engagement does not increase proportionally with loyalty points.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Early-stage users (0–1000) demonstrate strong engagement.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• Loyalty accumulation may be influenced by tenure rather than watch hours alone.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Impact of Content Download on Engagement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CBF091-65D3-46B7-95D6-1A75E853B7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999907"/>
              </p:ext>
            </p:extLst>
          </p:nvPr>
        </p:nvGraphicFramePr>
        <p:xfrm>
          <a:off x="125517" y="1779639"/>
          <a:ext cx="4761116" cy="2546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01C2878-7CBD-D404-614C-F5552B6DBB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935942"/>
              </p:ext>
            </p:extLst>
          </p:nvPr>
        </p:nvGraphicFramePr>
        <p:xfrm>
          <a:off x="4994787" y="1853755"/>
          <a:ext cx="4023697" cy="2499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63AFC5-B73E-288B-D8B7-5253FB4D6145}"/>
              </a:ext>
            </a:extLst>
          </p:cNvPr>
          <p:cNvSpPr txBox="1"/>
          <p:nvPr/>
        </p:nvSpPr>
        <p:spPr>
          <a:xfrm>
            <a:off x="862780" y="4562649"/>
            <a:ext cx="6816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Key Observations</a:t>
            </a:r>
          </a:p>
          <a:p>
            <a:pPr>
              <a:buNone/>
            </a:pPr>
            <a:r>
              <a:rPr lang="en-US" dirty="0"/>
              <a:t>1️⃣ Download users watch slightly more (+5 hours).</a:t>
            </a:r>
            <a:br>
              <a:rPr lang="en-US" dirty="0"/>
            </a:br>
            <a:r>
              <a:rPr lang="en-US" dirty="0"/>
              <a:t>2️⃣ Loyalty difference is minimal.</a:t>
            </a:r>
            <a:br>
              <a:rPr lang="en-US" dirty="0"/>
            </a:br>
            <a:r>
              <a:rPr lang="en-US" dirty="0"/>
              <a:t>3️⃣ Download feature improves short-term engagement.</a:t>
            </a:r>
            <a:br>
              <a:rPr lang="en-US" dirty="0"/>
            </a:br>
            <a:r>
              <a:rPr lang="en-US" dirty="0"/>
              <a:t>4️⃣ No strong correlation with loyalty growth.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Preferred Payment Methods by Country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803780-3CCC-CBBA-DA85-D95224652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145009"/>
              </p:ext>
            </p:extLst>
          </p:nvPr>
        </p:nvGraphicFramePr>
        <p:xfrm>
          <a:off x="1285875" y="1853755"/>
          <a:ext cx="6572250" cy="2944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25F91A-A3B2-DCEE-6D30-C8A1E66409C0}"/>
              </a:ext>
            </a:extLst>
          </p:cNvPr>
          <p:cNvSpPr txBox="1"/>
          <p:nvPr/>
        </p:nvSpPr>
        <p:spPr>
          <a:xfrm>
            <a:off x="1399868" y="4504169"/>
            <a:ext cx="7744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🧠 Key Observations</a:t>
            </a:r>
          </a:p>
          <a:p>
            <a:pPr>
              <a:buNone/>
            </a:pPr>
            <a:r>
              <a:rPr lang="en-IN" sz="1600" dirty="0"/>
              <a:t>1️⃣ Payment preference varies significantly by country.</a:t>
            </a:r>
            <a:br>
              <a:rPr lang="en-IN" sz="1600" dirty="0"/>
            </a:br>
            <a:r>
              <a:rPr lang="en-IN" sz="1600" dirty="0"/>
              <a:t>2️⃣ PayPal dominates in UK &amp; Canada.</a:t>
            </a:r>
            <a:br>
              <a:rPr lang="en-IN" sz="1600" dirty="0"/>
            </a:br>
            <a:r>
              <a:rPr lang="en-IN" sz="1600" dirty="0"/>
              <a:t>3️⃣ Debit Card is strong in Germany &amp; India.</a:t>
            </a:r>
            <a:br>
              <a:rPr lang="en-IN" sz="1600" dirty="0"/>
            </a:br>
            <a:r>
              <a:rPr lang="en-IN" sz="1600" dirty="0"/>
              <a:t>4️⃣ Cryptocurrency adoption is high in Australia &amp; France.</a:t>
            </a:r>
            <a:br>
              <a:rPr lang="en-IN" sz="1600" dirty="0"/>
            </a:br>
            <a:r>
              <a:rPr lang="en-IN" sz="1600" dirty="0"/>
              <a:t>5️⃣ USA shows balanced multi-method </a:t>
            </a:r>
            <a:r>
              <a:rPr lang="en-IN" sz="1600" dirty="0" err="1"/>
              <a:t>behavieor</a:t>
            </a:r>
            <a:r>
              <a:rPr lang="en-IN" sz="16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052052"/>
            <a:ext cx="7049729" cy="801703"/>
          </a:xfrm>
        </p:spPr>
        <p:txBody>
          <a:bodyPr>
            <a:normAutofit/>
          </a:bodyPr>
          <a:lstStyle/>
          <a:p>
            <a:r>
              <a:rPr lang="en-IN" sz="2800" dirty="0"/>
              <a:t>Subscription trends by country</a:t>
            </a:r>
            <a:endParaRPr sz="28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EEBE1C-D8C4-45B3-DDD5-E88112C00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279024"/>
              </p:ext>
            </p:extLst>
          </p:nvPr>
        </p:nvGraphicFramePr>
        <p:xfrm>
          <a:off x="1229032" y="1533833"/>
          <a:ext cx="7049729" cy="322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1D2FA3-711C-26F8-4574-ED9531CD7066}"/>
              </a:ext>
            </a:extLst>
          </p:cNvPr>
          <p:cNvSpPr txBox="1"/>
          <p:nvPr/>
        </p:nvSpPr>
        <p:spPr>
          <a:xfrm>
            <a:off x="1114578" y="4299154"/>
            <a:ext cx="72291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🧠 Key Observations</a:t>
            </a:r>
          </a:p>
          <a:p>
            <a:pPr>
              <a:buNone/>
            </a:pPr>
            <a:r>
              <a:rPr lang="en-IN" dirty="0">
                <a:solidFill>
                  <a:srgbClr val="7030A0"/>
                </a:solidFill>
              </a:rPr>
              <a:t>1️⃣ USA has highest user base (158).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2️⃣ USA also generates highest revenue (1890).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3️⃣ Revenue trend closely follows user count.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4️⃣ India has lowest user base and revenue.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5️⃣ European markets (UK, France, Germany) show strong performance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Language Preference &amp; Engagement Correlation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26FD87-9F53-0CF1-F6F4-567F8B376F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5316259"/>
              </p:ext>
            </p:extLst>
          </p:nvPr>
        </p:nvGraphicFramePr>
        <p:xfrm>
          <a:off x="1563328" y="2057400"/>
          <a:ext cx="6066503" cy="2258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4F10AE-9178-152B-C3E9-7CD65E0D7B2B}"/>
              </a:ext>
            </a:extLst>
          </p:cNvPr>
          <p:cNvSpPr txBox="1"/>
          <p:nvPr/>
        </p:nvSpPr>
        <p:spPr>
          <a:xfrm>
            <a:off x="1020096" y="4326503"/>
            <a:ext cx="75044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7030A0"/>
                </a:solidFill>
              </a:rPr>
              <a:t>🧠 Key Observations</a:t>
            </a:r>
          </a:p>
          <a:p>
            <a:pPr>
              <a:buNone/>
            </a:pPr>
            <a:r>
              <a:rPr lang="en-IN" dirty="0">
                <a:solidFill>
                  <a:srgbClr val="7030A0"/>
                </a:solidFill>
              </a:rPr>
              <a:t>1️⃣ French users show highest engagement (~273).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2️⃣ Spanish users also demonstrate strong watch hours (~265).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3️⃣ Mandarin has highest user base (~179) but lower engagement (~243).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4️⃣ English is moderate in both volume and engagement.</a:t>
            </a:r>
            <a:br>
              <a:rPr lang="en-IN" dirty="0">
                <a:solidFill>
                  <a:srgbClr val="7030A0"/>
                </a:solidFill>
              </a:rPr>
            </a:br>
            <a:r>
              <a:rPr lang="en-IN" dirty="0">
                <a:solidFill>
                  <a:srgbClr val="7030A0"/>
                </a:solidFill>
              </a:rPr>
              <a:t>5️⃣ Engagement varies more than user distribution.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4915-D4FF-0AD5-5F90-803F10C82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099" y="1137092"/>
            <a:ext cx="4917980" cy="76864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Project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E2C6E-A679-DABC-A84C-C9919C622CED}"/>
              </a:ext>
            </a:extLst>
          </p:cNvPr>
          <p:cNvSpPr txBox="1"/>
          <p:nvPr/>
        </p:nvSpPr>
        <p:spPr>
          <a:xfrm>
            <a:off x="1390340" y="2075734"/>
            <a:ext cx="657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• Successfully analyzed user behavior and engagement patterns.</a:t>
            </a:r>
            <a:br>
              <a:rPr lang="en-US" dirty="0">
                <a:highlight>
                  <a:srgbClr val="C0C0C0"/>
                </a:highlight>
              </a:rPr>
            </a:br>
            <a:r>
              <a:rPr lang="en-US" dirty="0">
                <a:highlight>
                  <a:srgbClr val="C0C0C0"/>
                </a:highlight>
              </a:rPr>
              <a:t>• Identified revenue, demographic, and regional performance trends.</a:t>
            </a:r>
            <a:br>
              <a:rPr lang="en-US" dirty="0">
                <a:highlight>
                  <a:srgbClr val="C0C0C0"/>
                </a:highlight>
              </a:rPr>
            </a:br>
            <a:r>
              <a:rPr lang="en-US" dirty="0">
                <a:highlight>
                  <a:srgbClr val="C0C0C0"/>
                </a:highlight>
              </a:rPr>
              <a:t>• Delivered actionable insights to improve retention and growth.</a:t>
            </a:r>
            <a:br>
              <a:rPr lang="en-US" dirty="0">
                <a:highlight>
                  <a:srgbClr val="C0C0C0"/>
                </a:highlight>
              </a:rPr>
            </a:br>
            <a:r>
              <a:rPr lang="en-US" dirty="0">
                <a:highlight>
                  <a:srgbClr val="C0C0C0"/>
                </a:highlight>
              </a:rPr>
              <a:t>• Data-driven recommendations provided for strategic decisions.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02E81-300A-5F0D-5031-8BB1AA9233F2}"/>
              </a:ext>
            </a:extLst>
          </p:cNvPr>
          <p:cNvSpPr txBox="1"/>
          <p:nvPr/>
        </p:nvSpPr>
        <p:spPr>
          <a:xfrm>
            <a:off x="2801269" y="3947255"/>
            <a:ext cx="4576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800" b="1" dirty="0">
                <a:solidFill>
                  <a:srgbClr val="00B050"/>
                </a:solidFill>
              </a:rPr>
              <a:t>Thank You</a:t>
            </a:r>
            <a:endParaRPr lang="en-IN" sz="4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4449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575</TotalTime>
  <Words>971</Words>
  <Application>Microsoft Office PowerPoint</Application>
  <PresentationFormat>On-screen Show (4:3)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Gallery</vt:lpstr>
      <vt:lpstr>Streaming Service User Analysis</vt:lpstr>
      <vt:lpstr>Project Objective</vt:lpstr>
      <vt:lpstr>Monthly Revenue Trend by Subscription Plan</vt:lpstr>
      <vt:lpstr>Subscription &amp; Revenue  Analysis</vt:lpstr>
      <vt:lpstr>User Tenure vs Engagement</vt:lpstr>
      <vt:lpstr>Total Movies vs Series Watched by Age Group</vt:lpstr>
      <vt:lpstr>Impact of Recommended Content on Engagement</vt:lpstr>
      <vt:lpstr>Genre Preference by Age Group</vt:lpstr>
      <vt:lpstr>Device usage trends</vt:lpstr>
      <vt:lpstr>Peak Watch Time Trends</vt:lpstr>
      <vt:lpstr>4.Retention &amp; Loyalty</vt:lpstr>
      <vt:lpstr>Loyalty points Distribution</vt:lpstr>
      <vt:lpstr>Impact of Content Download on Engagement</vt:lpstr>
      <vt:lpstr>Preferred Payment Methods by Country</vt:lpstr>
      <vt:lpstr>Subscription trends by country</vt:lpstr>
      <vt:lpstr>Language Preference &amp; Engagement Correlation</vt:lpstr>
      <vt:lpstr>Project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Service User Analysis</dc:title>
  <dc:subject/>
  <dc:creator>My Computer</dc:creator>
  <cp:keywords/>
  <dc:description>generated using python-pptx</dc:description>
  <cp:lastModifiedBy>Bala mahender yadav</cp:lastModifiedBy>
  <cp:revision>24</cp:revision>
  <dcterms:created xsi:type="dcterms:W3CDTF">2013-01-27T09:14:16Z</dcterms:created>
  <dcterms:modified xsi:type="dcterms:W3CDTF">2026-02-22T18:18:44Z</dcterms:modified>
  <cp:category/>
</cp:coreProperties>
</file>